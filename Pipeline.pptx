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300" r:id="rId6"/>
    <p:sldId id="290" r:id="rId7"/>
    <p:sldId id="306" r:id="rId8"/>
    <p:sldId id="259" r:id="rId9"/>
    <p:sldId id="293" r:id="rId10"/>
    <p:sldId id="294" r:id="rId11"/>
    <p:sldId id="301" r:id="rId12"/>
    <p:sldId id="302" r:id="rId13"/>
    <p:sldId id="305" r:id="rId14"/>
    <p:sldId id="258" r:id="rId15"/>
    <p:sldId id="303" r:id="rId16"/>
    <p:sldId id="308" r:id="rId17"/>
    <p:sldId id="309" r:id="rId18"/>
    <p:sldId id="310" r:id="rId19"/>
    <p:sldId id="311" r:id="rId20"/>
    <p:sldId id="304" r:id="rId21"/>
  </p:sldIdLst>
  <p:sldSz cx="9144000" cy="5143500" type="screen16x9"/>
  <p:notesSz cx="6858000" cy="9144000"/>
  <p:embeddedFontLst>
    <p:embeddedFont>
      <p:font typeface="Fira Sans Extra Condensed Medium" panose="020B0603050000020004"/>
      <p:regular r:id="rId26"/>
    </p:embeddedFont>
    <p:embeddedFont>
      <p:font typeface="Roboto" panose="02000000000000000000"/>
      <p:regular r:id="rId27"/>
    </p:embeddedFont>
    <p:embeddedFont>
      <p:font typeface="Poppins Black" panose="00000A00000000000000"/>
      <p:bold r:id="rId28"/>
    </p:embeddedFont>
    <p:embeddedFont>
      <p:font typeface="Poppins" panose="00000500000000000000"/>
      <p:regular r:id="rId29"/>
    </p:embeddedFont>
    <p:embeddedFont>
      <p:font typeface="Fira Sans Extra Condensed SemiBold" panose="020B0803050000020004" charset="0"/>
      <p:bold r:id="rId30"/>
      <p:italic r:id="rId31"/>
      <p:boldItalic r:id="rId32"/>
    </p:embeddedFont>
    <p:embeddedFont>
      <p:font typeface="Calibri" panose="020F050202020403020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aad sattar" initials="a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11.fntdata"/><Relationship Id="rId35" Type="http://schemas.openxmlformats.org/officeDocument/2006/relationships/font" Target="fonts/font10.fntdata"/><Relationship Id="rId34" Type="http://schemas.openxmlformats.org/officeDocument/2006/relationships/font" Target="fonts/font9.fntdata"/><Relationship Id="rId33" Type="http://schemas.openxmlformats.org/officeDocument/2006/relationships/font" Target="fonts/font8.fntdata"/><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
        <p:cNvGrpSpPr/>
        <p:nvPr/>
      </p:nvGrpSpPr>
      <p:grpSpPr>
        <a:xfrm>
          <a:off x="0" y="0"/>
          <a:ext cx="0" cy="0"/>
          <a:chOff x="0" y="0"/>
          <a:chExt cx="0" cy="0"/>
        </a:xfrm>
      </p:grpSpPr>
      <p:sp>
        <p:nvSpPr>
          <p:cNvPr id="55" name="Google Shape;55;gf04b968a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f04b968a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g913592f75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13592f75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g913592f75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13592f75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0"/>
        <p:cNvGrpSpPr/>
        <p:nvPr/>
      </p:nvGrpSpPr>
      <p:grpSpPr>
        <a:xfrm>
          <a:off x="0" y="0"/>
          <a:ext cx="0" cy="0"/>
          <a:chOff x="0" y="0"/>
          <a:chExt cx="0" cy="0"/>
        </a:xfrm>
      </p:grpSpPr>
      <p:sp>
        <p:nvSpPr>
          <p:cNvPr id="271" name="Google Shape;271;g9a0c79df7d_0_16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9a0c79df7d_0_16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g913592f75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13592f75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g913592f75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13592f75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
        <p:cNvGrpSpPr/>
        <p:nvPr/>
      </p:nvGrpSpPr>
      <p:grpSpPr>
        <a:xfrm>
          <a:off x="0" y="0"/>
          <a:ext cx="0" cy="0"/>
          <a:chOff x="0" y="0"/>
          <a:chExt cx="0" cy="0"/>
        </a:xfrm>
      </p:grpSpPr>
      <p:sp>
        <p:nvSpPr>
          <p:cNvPr id="155" name="Google Shape;155;g9a0c79df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9a0c79df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15413" y="1282750"/>
            <a:ext cx="4456800" cy="2229000"/>
          </a:xfrm>
          <a:prstGeom prst="rect">
            <a:avLst/>
          </a:prstGeom>
        </p:spPr>
        <p:txBody>
          <a:bodyPr spcFirstLastPara="1" wrap="square" lIns="91425" tIns="91425" rIns="91425" bIns="91425" anchor="b" anchorCtr="0">
            <a:noAutofit/>
          </a:bodyPr>
          <a:lstStyle>
            <a:lvl1pPr lvl="0" algn="l">
              <a:spcBef>
                <a:spcPts val="0"/>
              </a:spcBef>
              <a:spcAft>
                <a:spcPts val="0"/>
              </a:spcAft>
              <a:buSzPts val="4000"/>
              <a:buNone/>
              <a:defRPr sz="480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1pPr>
            <a:lvl2pPr lvl="1"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2pPr>
            <a:lvl3pPr lvl="2"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3pPr>
            <a:lvl4pPr lvl="3"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4pPr>
            <a:lvl5pPr lvl="4"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5pPr>
            <a:lvl6pPr lvl="5"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6pPr>
            <a:lvl7pPr lvl="6"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7pPr>
            <a:lvl8pPr lvl="7"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8pPr>
            <a:lvl9pPr lvl="8" algn="ctr">
              <a:spcBef>
                <a:spcPts val="0"/>
              </a:spcBef>
              <a:spcAft>
                <a:spcPts val="0"/>
              </a:spcAft>
              <a:buSzPts val="4000"/>
              <a:buFont typeface="Fira Sans SemiBold" panose="020B0503050000020004"/>
              <a:buNone/>
              <a:defRPr sz="4000">
                <a:latin typeface="Fira Sans SemiBold" panose="020B0503050000020004"/>
                <a:ea typeface="Fira Sans SemiBold" panose="020B0503050000020004"/>
                <a:cs typeface="Fira Sans SemiBold" panose="020B0503050000020004"/>
                <a:sym typeface="Fira Sans SemiBold" panose="020B0503050000020004"/>
              </a:defRPr>
            </a:lvl9pPr>
          </a:lstStyle>
          <a:p/>
        </p:txBody>
      </p:sp>
      <p:sp>
        <p:nvSpPr>
          <p:cNvPr id="11" name="Google Shape;11;p2"/>
          <p:cNvSpPr txBox="1">
            <a:spLocks noGrp="1"/>
          </p:cNvSpPr>
          <p:nvPr>
            <p:ph type="subTitle" idx="1"/>
          </p:nvPr>
        </p:nvSpPr>
        <p:spPr>
          <a:xfrm>
            <a:off x="915413" y="3527010"/>
            <a:ext cx="3929700" cy="407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150850"/>
            <a:ext cx="8229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57200" y="301200"/>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8" name="Google Shape;18;p4"/>
          <p:cNvSpPr txBox="1">
            <a:spLocks noGrp="1"/>
          </p:cNvSpPr>
          <p:nvPr>
            <p:ph type="body" idx="1"/>
          </p:nvPr>
        </p:nvSpPr>
        <p:spPr>
          <a:xfrm>
            <a:off x="457200" y="1397625"/>
            <a:ext cx="8229600" cy="3368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1600"/>
              </a:spcBef>
              <a:spcAft>
                <a:spcPts val="0"/>
              </a:spcAft>
              <a:buSzPts val="1200"/>
              <a:buChar char="○"/>
              <a:defRPr/>
            </a:lvl2pPr>
            <a:lvl3pPr marL="1371600" lvl="2" indent="-304800">
              <a:spcBef>
                <a:spcPts val="1600"/>
              </a:spcBef>
              <a:spcAft>
                <a:spcPts val="0"/>
              </a:spcAft>
              <a:buSzPts val="1200"/>
              <a:buChar char="■"/>
              <a:defRPr/>
            </a:lvl3pPr>
            <a:lvl4pPr marL="1828800" lvl="3" indent="-304800">
              <a:spcBef>
                <a:spcPts val="1600"/>
              </a:spcBef>
              <a:spcAft>
                <a:spcPts val="0"/>
              </a:spcAft>
              <a:buSzPts val="1200"/>
              <a:buChar char="●"/>
              <a:defRPr/>
            </a:lvl4pPr>
            <a:lvl5pPr marL="2286000" lvl="4" indent="-304800">
              <a:spcBef>
                <a:spcPts val="1600"/>
              </a:spcBef>
              <a:spcAft>
                <a:spcPts val="0"/>
              </a:spcAft>
              <a:buSzPts val="1200"/>
              <a:buChar char="○"/>
              <a:defRPr/>
            </a:lvl5pPr>
            <a:lvl6pPr marL="2743200" lvl="5" indent="-304800">
              <a:spcBef>
                <a:spcPts val="1600"/>
              </a:spcBef>
              <a:spcAft>
                <a:spcPts val="0"/>
              </a:spcAft>
              <a:buSzPts val="1200"/>
              <a:buChar char="■"/>
              <a:defRPr/>
            </a:lvl6pPr>
            <a:lvl7pPr marL="3200400" lvl="6" indent="-304800">
              <a:spcBef>
                <a:spcPts val="1600"/>
              </a:spcBef>
              <a:spcAft>
                <a:spcPts val="0"/>
              </a:spcAft>
              <a:buSzPts val="1200"/>
              <a:buChar char="●"/>
              <a:defRPr/>
            </a:lvl7pPr>
            <a:lvl8pPr marL="3657600" lvl="7" indent="-304800">
              <a:spcBef>
                <a:spcPts val="1600"/>
              </a:spcBef>
              <a:spcAft>
                <a:spcPts val="0"/>
              </a:spcAft>
              <a:buSzPts val="1200"/>
              <a:buChar char="○"/>
              <a:defRPr/>
            </a:lvl8pPr>
            <a:lvl9pPr marL="4114800" lvl="8" indent="-304800">
              <a:spcBef>
                <a:spcPts val="1600"/>
              </a:spcBef>
              <a:spcAft>
                <a:spcPts val="1600"/>
              </a:spcAft>
              <a:buSzPts val="12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57200" y="301200"/>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2" name="Google Shape;22;p5"/>
          <p:cNvSpPr txBox="1">
            <a:spLocks noGrp="1"/>
          </p:cNvSpPr>
          <p:nvPr>
            <p:ph type="body" idx="1"/>
          </p:nvPr>
        </p:nvSpPr>
        <p:spPr>
          <a:xfrm>
            <a:off x="457200" y="1152475"/>
            <a:ext cx="3854400" cy="3613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3" name="Google Shape;2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24" name="Google Shape;24;p5"/>
          <p:cNvSpPr txBox="1">
            <a:spLocks noGrp="1"/>
          </p:cNvSpPr>
          <p:nvPr>
            <p:ph type="body" idx="2"/>
          </p:nvPr>
        </p:nvSpPr>
        <p:spPr>
          <a:xfrm>
            <a:off x="4832400" y="1152475"/>
            <a:ext cx="3854400" cy="3613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57200" y="301200"/>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solidFill>
                  <a:schemeClr val="dk1"/>
                </a:solidFill>
              </a:defRPr>
            </a:lvl1pPr>
            <a:lvl2pPr lvl="1" algn="ctr">
              <a:spcBef>
                <a:spcPts val="0"/>
              </a:spcBef>
              <a:spcAft>
                <a:spcPts val="0"/>
              </a:spcAft>
              <a:buSzPts val="2600"/>
              <a:buNone/>
              <a:defRPr/>
            </a:lvl2pPr>
            <a:lvl3pPr lvl="2" algn="ctr">
              <a:spcBef>
                <a:spcPts val="0"/>
              </a:spcBef>
              <a:spcAft>
                <a:spcPts val="0"/>
              </a:spcAft>
              <a:buSzPts val="2600"/>
              <a:buNone/>
              <a:defRPr/>
            </a:lvl3pPr>
            <a:lvl4pPr lvl="3" algn="ctr">
              <a:spcBef>
                <a:spcPts val="0"/>
              </a:spcBef>
              <a:spcAft>
                <a:spcPts val="0"/>
              </a:spcAft>
              <a:buSzPts val="2600"/>
              <a:buNone/>
              <a:defRPr/>
            </a:lvl4pPr>
            <a:lvl5pPr lvl="4" algn="ctr">
              <a:spcBef>
                <a:spcPts val="0"/>
              </a:spcBef>
              <a:spcAft>
                <a:spcPts val="0"/>
              </a:spcAft>
              <a:buSzPts val="2600"/>
              <a:buNone/>
              <a:defRPr/>
            </a:lvl5pPr>
            <a:lvl6pPr lvl="5" algn="ctr">
              <a:spcBef>
                <a:spcPts val="0"/>
              </a:spcBef>
              <a:spcAft>
                <a:spcPts val="0"/>
              </a:spcAft>
              <a:buSzPts val="2600"/>
              <a:buNone/>
              <a:defRPr/>
            </a:lvl6pPr>
            <a:lvl7pPr lvl="6" algn="ctr">
              <a:spcBef>
                <a:spcPts val="0"/>
              </a:spcBef>
              <a:spcAft>
                <a:spcPts val="0"/>
              </a:spcAft>
              <a:buSzPts val="2600"/>
              <a:buNone/>
              <a:defRPr/>
            </a:lvl7pPr>
            <a:lvl8pPr lvl="7" algn="ctr">
              <a:spcBef>
                <a:spcPts val="0"/>
              </a:spcBef>
              <a:spcAft>
                <a:spcPts val="0"/>
              </a:spcAft>
              <a:buSzPts val="2600"/>
              <a:buNone/>
              <a:defRPr/>
            </a:lvl8pPr>
            <a:lvl9pPr lvl="8" algn="ctr">
              <a:spcBef>
                <a:spcPts val="0"/>
              </a:spcBef>
              <a:spcAft>
                <a:spcPts val="0"/>
              </a:spcAft>
              <a:buSzPts val="26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57200" y="3774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457200" y="1398750"/>
            <a:ext cx="2808000" cy="3367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57200" y="377400"/>
            <a:ext cx="6400800" cy="43887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457200" y="1023075"/>
            <a:ext cx="38370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473700" y="2803075"/>
            <a:ext cx="38370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1600"/>
              </a:spcBef>
              <a:spcAft>
                <a:spcPts val="0"/>
              </a:spcAft>
              <a:buSzPts val="1200"/>
              <a:buChar char="○"/>
              <a:defRPr/>
            </a:lvl2pPr>
            <a:lvl3pPr marL="1371600" lvl="2" indent="-304800">
              <a:spcBef>
                <a:spcPts val="1600"/>
              </a:spcBef>
              <a:spcAft>
                <a:spcPts val="0"/>
              </a:spcAft>
              <a:buSzPts val="1200"/>
              <a:buChar char="■"/>
              <a:defRPr/>
            </a:lvl3pPr>
            <a:lvl4pPr marL="1828800" lvl="3" indent="-304800">
              <a:spcBef>
                <a:spcPts val="1600"/>
              </a:spcBef>
              <a:spcAft>
                <a:spcPts val="0"/>
              </a:spcAft>
              <a:buSzPts val="1200"/>
              <a:buChar char="●"/>
              <a:defRPr/>
            </a:lvl4pPr>
            <a:lvl5pPr marL="2286000" lvl="4" indent="-304800">
              <a:spcBef>
                <a:spcPts val="1600"/>
              </a:spcBef>
              <a:spcAft>
                <a:spcPts val="0"/>
              </a:spcAft>
              <a:buSzPts val="1200"/>
              <a:buChar char="○"/>
              <a:defRPr/>
            </a:lvl5pPr>
            <a:lvl6pPr marL="2743200" lvl="5" indent="-304800">
              <a:spcBef>
                <a:spcPts val="1600"/>
              </a:spcBef>
              <a:spcAft>
                <a:spcPts val="0"/>
              </a:spcAft>
              <a:buSzPts val="1200"/>
              <a:buChar char="■"/>
              <a:defRPr/>
            </a:lvl6pPr>
            <a:lvl7pPr marL="3200400" lvl="6" indent="-304800">
              <a:spcBef>
                <a:spcPts val="1600"/>
              </a:spcBef>
              <a:spcAft>
                <a:spcPts val="0"/>
              </a:spcAft>
              <a:buSzPts val="1200"/>
              <a:buChar char="●"/>
              <a:defRPr/>
            </a:lvl7pPr>
            <a:lvl8pPr marL="3657600" lvl="7" indent="-304800">
              <a:spcBef>
                <a:spcPts val="1600"/>
              </a:spcBef>
              <a:spcAft>
                <a:spcPts val="0"/>
              </a:spcAft>
              <a:buSzPts val="1200"/>
              <a:buChar char="○"/>
              <a:defRPr/>
            </a:lvl8pPr>
            <a:lvl9pPr marL="4114800" lvl="8" indent="-304800">
              <a:spcBef>
                <a:spcPts val="1600"/>
              </a:spcBef>
              <a:spcAft>
                <a:spcPts val="1600"/>
              </a:spcAft>
              <a:buSzPts val="12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57200" y="4161000"/>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2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57200" y="1106125"/>
            <a:ext cx="8229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457200" y="3152225"/>
            <a:ext cx="8229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1600"/>
              </a:spcBef>
              <a:spcAft>
                <a:spcPts val="0"/>
              </a:spcAft>
              <a:buSzPts val="1200"/>
              <a:buChar char="○"/>
              <a:defRPr/>
            </a:lvl2pPr>
            <a:lvl3pPr marL="1371600" lvl="2" indent="-304800" algn="ctr">
              <a:spcBef>
                <a:spcPts val="1600"/>
              </a:spcBef>
              <a:spcAft>
                <a:spcPts val="0"/>
              </a:spcAft>
              <a:buSzPts val="1200"/>
              <a:buChar char="■"/>
              <a:defRPr/>
            </a:lvl3pPr>
            <a:lvl4pPr marL="1828800" lvl="3" indent="-304800" algn="ctr">
              <a:spcBef>
                <a:spcPts val="1600"/>
              </a:spcBef>
              <a:spcAft>
                <a:spcPts val="0"/>
              </a:spcAft>
              <a:buSzPts val="1200"/>
              <a:buChar char="●"/>
              <a:defRPr/>
            </a:lvl4pPr>
            <a:lvl5pPr marL="2286000" lvl="4" indent="-304800" algn="ctr">
              <a:spcBef>
                <a:spcPts val="1600"/>
              </a:spcBef>
              <a:spcAft>
                <a:spcPts val="0"/>
              </a:spcAft>
              <a:buSzPts val="1200"/>
              <a:buChar char="○"/>
              <a:defRPr/>
            </a:lvl5pPr>
            <a:lvl6pPr marL="2743200" lvl="5" indent="-304800" algn="ctr">
              <a:spcBef>
                <a:spcPts val="1600"/>
              </a:spcBef>
              <a:spcAft>
                <a:spcPts val="0"/>
              </a:spcAft>
              <a:buSzPts val="1200"/>
              <a:buChar char="■"/>
              <a:defRPr/>
            </a:lvl6pPr>
            <a:lvl7pPr marL="3200400" lvl="6" indent="-304800" algn="ctr">
              <a:spcBef>
                <a:spcPts val="1600"/>
              </a:spcBef>
              <a:spcAft>
                <a:spcPts val="0"/>
              </a:spcAft>
              <a:buSzPts val="1200"/>
              <a:buChar char="●"/>
              <a:defRPr/>
            </a:lvl7pPr>
            <a:lvl8pPr marL="3657600" lvl="7" indent="-304800" algn="ctr">
              <a:spcBef>
                <a:spcPts val="1600"/>
              </a:spcBef>
              <a:spcAft>
                <a:spcPts val="0"/>
              </a:spcAft>
              <a:buSzPts val="1200"/>
              <a:buChar char="○"/>
              <a:defRPr/>
            </a:lvl8pPr>
            <a:lvl9pPr marL="4114800" lvl="8" indent="-304800" algn="ctr">
              <a:spcBef>
                <a:spcPts val="1600"/>
              </a:spcBef>
              <a:spcAft>
                <a:spcPts val="1600"/>
              </a:spcAft>
              <a:buSzPts val="12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301200"/>
            <a:ext cx="8229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lvl="1"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lvl="2"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lvl="3"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lvl="4"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lvl="5"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lvl="6"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lvl="7"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lvl="8" algn="ctr">
              <a:spcBef>
                <a:spcPts val="0"/>
              </a:spcBef>
              <a:spcAft>
                <a:spcPts val="0"/>
              </a:spcAft>
              <a:buSzPts val="2600"/>
              <a:buFont typeface="Fira Sans Extra Condensed Medium" panose="020B0603050000020004"/>
              <a:buNone/>
              <a:defRPr sz="2600">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p:txBody>
      </p:sp>
      <p:sp>
        <p:nvSpPr>
          <p:cNvPr id="7" name="Google Shape;7;p1"/>
          <p:cNvSpPr txBox="1">
            <a:spLocks noGrp="1"/>
          </p:cNvSpPr>
          <p:nvPr>
            <p:ph type="body" idx="1"/>
          </p:nvPr>
        </p:nvSpPr>
        <p:spPr>
          <a:xfrm>
            <a:off x="457200" y="1397625"/>
            <a:ext cx="8229600" cy="3368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1pPr>
            <a:lvl2pPr marL="914400" lvl="1"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2pPr>
            <a:lvl3pPr marL="1371600" lvl="2"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3pPr>
            <a:lvl4pPr marL="1828800" lvl="3"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4pPr>
            <a:lvl5pPr marL="2286000" lvl="4"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5pPr>
            <a:lvl6pPr marL="2743200" lvl="5"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6pPr>
            <a:lvl7pPr marL="3200400" lvl="6"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7pPr>
            <a:lvl8pPr marL="3657600" lvl="7" indent="-304800">
              <a:lnSpc>
                <a:spcPct val="115000"/>
              </a:lnSpc>
              <a:spcBef>
                <a:spcPts val="1600"/>
              </a:spcBef>
              <a:spcAft>
                <a:spcPts val="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8pPr>
            <a:lvl9pPr marL="4114800" lvl="8" indent="-304800">
              <a:lnSpc>
                <a:spcPct val="115000"/>
              </a:lnSpc>
              <a:spcBef>
                <a:spcPts val="1600"/>
              </a:spcBef>
              <a:spcAft>
                <a:spcPts val="1600"/>
              </a:spcAft>
              <a:buSzPts val="1200"/>
              <a:buFont typeface="Roboto" panose="02000000000000000000"/>
              <a:buChar char="■"/>
              <a:defRPr sz="1200">
                <a:latin typeface="Roboto" panose="02000000000000000000"/>
                <a:ea typeface="Roboto" panose="02000000000000000000"/>
                <a:cs typeface="Roboto" panose="02000000000000000000"/>
                <a:sym typeface="Roboto" panose="02000000000000000000"/>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5"/>
          <p:cNvSpPr txBox="1">
            <a:spLocks noGrp="1"/>
          </p:cNvSpPr>
          <p:nvPr>
            <p:ph type="ctrTitle"/>
          </p:nvPr>
        </p:nvSpPr>
        <p:spPr>
          <a:xfrm>
            <a:off x="915413" y="1186865"/>
            <a:ext cx="4456800" cy="85242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kumimoji="0" lang="en-US" sz="5400" b="0" i="0" u="none" strike="noStrike" kern="0" cap="none" spc="0" normalizeH="0" baseline="0" noProof="0" dirty="0">
                <a:ln>
                  <a:noFill/>
                </a:ln>
                <a:solidFill>
                  <a:srgbClr val="263238"/>
                </a:solidFill>
                <a:effectLst/>
                <a:uLnTx/>
                <a:uFillTx/>
                <a:latin typeface="Poppins Black" panose="00000A00000000000000"/>
                <a:ea typeface="Poppins Black" panose="00000A00000000000000"/>
                <a:cs typeface="Poppins Black" panose="00000A00000000000000"/>
                <a:sym typeface="Poppins Black" panose="00000A00000000000000"/>
              </a:rPr>
              <a:t>Pipeline</a:t>
            </a:r>
            <a:endParaRPr kumimoji="0" lang="en-US" sz="5400" b="0" i="0" u="none" strike="noStrike" kern="0" cap="none" spc="0" normalizeH="0" baseline="0" noProof="0" dirty="0">
              <a:ln>
                <a:noFill/>
              </a:ln>
              <a:solidFill>
                <a:srgbClr val="263238"/>
              </a:solidFill>
              <a:effectLst/>
              <a:uLnTx/>
              <a:uFillTx/>
              <a:latin typeface="Poppins Black" panose="00000A00000000000000"/>
              <a:ea typeface="Poppins Black" panose="00000A00000000000000"/>
              <a:cs typeface="Poppins Black" panose="00000A00000000000000"/>
              <a:sym typeface="Poppins Black" panose="00000A00000000000000"/>
            </a:endParaRPr>
          </a:p>
        </p:txBody>
      </p:sp>
      <p:sp>
        <p:nvSpPr>
          <p:cNvPr id="59" name="Google Shape;59;p15"/>
          <p:cNvSpPr txBox="1">
            <a:spLocks noGrp="1"/>
          </p:cNvSpPr>
          <p:nvPr>
            <p:ph type="subTitle" idx="1"/>
          </p:nvPr>
        </p:nvSpPr>
        <p:spPr>
          <a:xfrm>
            <a:off x="915413" y="2282672"/>
            <a:ext cx="3929700" cy="4074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endPar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endPar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r>
              <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rPr>
              <a:t>By:</a:t>
            </a:r>
            <a:r>
              <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rPr>
              <a:t> </a:t>
            </a:r>
            <a:endPar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r>
              <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rPr>
              <a:t>      Ali Haider Dhahir</a:t>
            </a:r>
            <a:endPar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r>
              <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rPr>
              <a:t>      Ahmad Abdullah Ghadeer</a:t>
            </a:r>
            <a:endPar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r>
              <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rPr>
              <a:t>      Zaynab Asaad Sattar</a:t>
            </a:r>
            <a:endPar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r>
              <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rPr>
              <a:t>      Ali Sattar </a:t>
            </a:r>
            <a:r>
              <a:rPr kumimoji="0" lang="en-US" sz="1200" b="0" i="0" u="none" strike="noStrike" kern="0" cap="none" spc="0" normalizeH="0" baseline="0" noProof="0" dirty="0" err="1">
                <a:ln>
                  <a:noFill/>
                </a:ln>
                <a:solidFill>
                  <a:srgbClr val="263238"/>
                </a:solidFill>
                <a:effectLst/>
                <a:uLnTx/>
                <a:uFillTx/>
                <a:latin typeface="Poppins" panose="00000500000000000000"/>
                <a:cs typeface="Poppins" panose="00000500000000000000"/>
                <a:sym typeface="Poppins" panose="00000500000000000000"/>
              </a:rPr>
              <a:t>Jbari</a:t>
            </a:r>
            <a:r>
              <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rPr>
              <a:t> </a:t>
            </a:r>
            <a:endPar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endParaRPr>
          </a:p>
          <a:p>
            <a:pPr marL="0" marR="0" lvl="0" indent="0" algn="l" defTabSz="914400" rtl="0" eaLnBrk="1" fontAlgn="auto" latinLnBrk="0" hangingPunct="1">
              <a:lnSpc>
                <a:spcPct val="100000"/>
              </a:lnSpc>
              <a:spcBef>
                <a:spcPts val="0"/>
              </a:spcBef>
              <a:spcAft>
                <a:spcPts val="0"/>
              </a:spcAft>
              <a:buClr>
                <a:srgbClr val="263238"/>
              </a:buClr>
              <a:buSzPts val="1600"/>
              <a:buFont typeface="Poppins" panose="00000500000000000000"/>
              <a:buNone/>
              <a:defRPr/>
            </a:pPr>
            <a:r>
              <a:rPr kumimoji="0" lang="en-US" sz="1200" b="0" i="0" u="none" strike="noStrike" kern="0" cap="none" spc="0" normalizeH="0" baseline="0" noProof="0" dirty="0">
                <a:ln>
                  <a:noFill/>
                </a:ln>
                <a:solidFill>
                  <a:srgbClr val="263238"/>
                </a:solidFill>
                <a:effectLst/>
                <a:uLnTx/>
                <a:uFillTx/>
                <a:latin typeface="Poppins" panose="00000500000000000000"/>
                <a:cs typeface="Poppins" panose="00000500000000000000"/>
                <a:sym typeface="Poppins" panose="00000500000000000000"/>
              </a:rPr>
              <a:t>      Ali Basil Abbas</a:t>
            </a:r>
            <a:endParaRPr kumimoji="0" lang="en-US" sz="1200" b="0" i="0" u="none" strike="noStrike" kern="0" cap="none" spc="0" normalizeH="0" baseline="0" noProof="0" dirty="0">
              <a:ln>
                <a:noFill/>
              </a:ln>
              <a:solidFill>
                <a:srgbClr val="263238"/>
              </a:solidFill>
              <a:effectLst/>
              <a:uLnTx/>
              <a:uFillTx/>
              <a:latin typeface="Poppins" panose="00000500000000000000"/>
              <a:ea typeface="Poppins" panose="00000500000000000000"/>
              <a:cs typeface="Poppins" panose="00000500000000000000"/>
              <a:sym typeface="Poppins" panose="00000500000000000000"/>
            </a:endParaRPr>
          </a:p>
        </p:txBody>
      </p:sp>
      <p:pic>
        <p:nvPicPr>
          <p:cNvPr id="2" name="Picture 1"/>
          <p:cNvPicPr>
            <a:picLocks noChangeAspect="1"/>
          </p:cNvPicPr>
          <p:nvPr/>
        </p:nvPicPr>
        <p:blipFill>
          <a:blip r:embed="rId1"/>
          <a:srcRect l="2656" t="982"/>
          <a:stretch>
            <a:fillRect/>
          </a:stretch>
        </p:blipFill>
        <p:spPr>
          <a:xfrm>
            <a:off x="4290060" y="1259205"/>
            <a:ext cx="4514215" cy="26250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0" name="Google Shape;110;p16"/>
          <p:cNvSpPr txBox="1">
            <a:spLocks noGrp="1"/>
          </p:cNvSpPr>
          <p:nvPr>
            <p:ph type="title"/>
          </p:nvPr>
        </p:nvSpPr>
        <p:spPr>
          <a:xfrm>
            <a:off x="457200" y="158388"/>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u="sng" dirty="0"/>
              <a:t>Contents</a:t>
            </a:r>
            <a:endParaRPr lang="en-US" sz="4000" u="sng" dirty="0"/>
          </a:p>
        </p:txBody>
      </p:sp>
      <p:sp>
        <p:nvSpPr>
          <p:cNvPr id="111" name="Google Shape;111;p16"/>
          <p:cNvSpPr/>
          <p:nvPr/>
        </p:nvSpPr>
        <p:spPr>
          <a:xfrm>
            <a:off x="3515193" y="4999621"/>
            <a:ext cx="12335" cy="10017"/>
          </a:xfrm>
          <a:custGeom>
            <a:avLst/>
            <a:gdLst/>
            <a:ahLst/>
            <a:cxnLst/>
            <a:rect l="l" t="t" r="r" b="b"/>
            <a:pathLst>
              <a:path w="548" h="445" extrusionOk="0">
                <a:moveTo>
                  <a:pt x="274" y="0"/>
                </a:moveTo>
                <a:cubicBezTo>
                  <a:pt x="0" y="0"/>
                  <a:pt x="0" y="445"/>
                  <a:pt x="274" y="445"/>
                </a:cubicBezTo>
                <a:cubicBezTo>
                  <a:pt x="547" y="445"/>
                  <a:pt x="547" y="0"/>
                  <a:pt x="2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 name="Google Shape;110;p16"/>
          <p:cNvSpPr txBox="1"/>
          <p:nvPr/>
        </p:nvSpPr>
        <p:spPr>
          <a:xfrm>
            <a:off x="820155" y="919119"/>
            <a:ext cx="2418897" cy="5365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pPr algn="l"/>
            <a:r>
              <a:rPr lang="en-US" sz="2000">
                <a:sym typeface="+mn-ea"/>
              </a:rPr>
              <a:t>Abstract</a:t>
            </a:r>
            <a:endParaRPr lang="en-US" sz="2000" dirty="0"/>
          </a:p>
        </p:txBody>
      </p:sp>
      <p:sp>
        <p:nvSpPr>
          <p:cNvPr id="10" name="Google Shape;110;p16"/>
          <p:cNvSpPr txBox="1"/>
          <p:nvPr/>
        </p:nvSpPr>
        <p:spPr>
          <a:xfrm>
            <a:off x="775070" y="1455355"/>
            <a:ext cx="2754557" cy="5365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pPr algn="l"/>
            <a:r>
              <a:rPr lang="en-US" sz="2000" dirty="0"/>
              <a:t> </a:t>
            </a:r>
            <a:r>
              <a:rPr lang="en-US" sz="2000" dirty="0">
                <a:sym typeface="+mn-ea"/>
              </a:rPr>
              <a:t>introduction</a:t>
            </a:r>
            <a:endParaRPr lang="en-US" sz="2000" dirty="0">
              <a:sym typeface="+mn-ea"/>
            </a:endParaRPr>
          </a:p>
        </p:txBody>
      </p:sp>
      <p:sp>
        <p:nvSpPr>
          <p:cNvPr id="6" name="Text Box 5"/>
          <p:cNvSpPr txBox="1"/>
          <p:nvPr/>
        </p:nvSpPr>
        <p:spPr>
          <a:xfrm>
            <a:off x="820420" y="1991995"/>
            <a:ext cx="4572000" cy="398780"/>
          </a:xfrm>
          <a:prstGeom prst="rect">
            <a:avLst/>
          </a:prstGeom>
          <a:noFill/>
        </p:spPr>
        <p:txBody>
          <a:bodyPr wrap="square" rtlCol="0" anchor="t">
            <a:spAutoFit/>
          </a:bodyPr>
          <a:p>
            <a:r>
              <a:rPr lang="en-US" sz="2000" dirty="0">
                <a:solidFill>
                  <a:schemeClr val="dk1"/>
                </a:solidFill>
                <a:latin typeface="Fira Sans Extra Condensed Medium" panose="020B0603050000020004"/>
                <a:ea typeface="Fira Sans Extra Condensed Medium" panose="020B0603050000020004"/>
                <a:cs typeface="Fira Sans Extra Condensed Medium" panose="020B0603050000020004"/>
              </a:rPr>
              <a:t>Single-Cycle &amp; piprline</a:t>
            </a:r>
            <a:endParaRPr lang="en-US"/>
          </a:p>
        </p:txBody>
      </p:sp>
      <p:sp>
        <p:nvSpPr>
          <p:cNvPr id="7" name="Text Box 6"/>
          <p:cNvSpPr txBox="1"/>
          <p:nvPr/>
        </p:nvSpPr>
        <p:spPr>
          <a:xfrm>
            <a:off x="820420" y="2494280"/>
            <a:ext cx="4572000" cy="398780"/>
          </a:xfrm>
          <a:prstGeom prst="rect">
            <a:avLst/>
          </a:prstGeom>
          <a:noFill/>
        </p:spPr>
        <p:txBody>
          <a:bodyPr wrap="square" rtlCol="0" anchor="t">
            <a:spAutoFit/>
          </a:bodyPr>
          <a:p>
            <a:r>
              <a:rPr lang="en-US" sz="2000">
                <a:solidFill>
                  <a:schemeClr val="dk1"/>
                </a:solidFill>
                <a:latin typeface="Fira Sans Extra Condensed Medium" panose="020B0603050000020004"/>
                <a:ea typeface="Fira Sans Extra Condensed Medium" panose="020B0603050000020004"/>
                <a:cs typeface="Fira Sans Extra Condensed Medium" panose="020B0603050000020004"/>
                <a:sym typeface="+mn-ea"/>
              </a:rPr>
              <a:t>Pipelining Strategy</a:t>
            </a:r>
            <a:endParaRPr lang="en-US" altLang="en-US" sz="2800" u="sng" dirty="0">
              <a:sym typeface="+mn-ea"/>
            </a:endParaRPr>
          </a:p>
        </p:txBody>
      </p:sp>
      <p:sp>
        <p:nvSpPr>
          <p:cNvPr id="12" name="Text Box 11"/>
          <p:cNvSpPr txBox="1"/>
          <p:nvPr/>
        </p:nvSpPr>
        <p:spPr>
          <a:xfrm>
            <a:off x="820420" y="3007995"/>
            <a:ext cx="4572000" cy="398780"/>
          </a:xfrm>
          <a:prstGeom prst="rect">
            <a:avLst/>
          </a:prstGeom>
          <a:noFill/>
        </p:spPr>
        <p:txBody>
          <a:bodyPr wrap="square" rtlCol="0" anchor="t">
            <a:spAutoFit/>
          </a:bodyPr>
          <a:p>
            <a:r>
              <a:rPr lang="en-US" sz="2000">
                <a:solidFill>
                  <a:schemeClr val="dk1"/>
                </a:solidFill>
                <a:latin typeface="Fira Sans Extra Condensed Medium" panose="020B0603050000020004"/>
                <a:ea typeface="Fira Sans Extra Condensed Medium" panose="020B0603050000020004"/>
                <a:cs typeface="Fira Sans Extra Condensed Medium" panose="020B0603050000020004"/>
                <a:sym typeface="+mn-ea"/>
              </a:rPr>
              <a:t>Pipelining difficulties</a:t>
            </a:r>
            <a:endParaRPr lang="en-US" sz="2000">
              <a:solidFill>
                <a:schemeClr val="dk1"/>
              </a:solidFill>
              <a:latin typeface="Fira Sans Extra Condensed Medium" panose="020B0603050000020004"/>
              <a:ea typeface="Fira Sans Extra Condensed Medium" panose="020B0603050000020004"/>
              <a:cs typeface="Fira Sans Extra Condensed Medium" panose="020B0603050000020004"/>
              <a:sym typeface="+mn-ea"/>
            </a:endParaRPr>
          </a:p>
        </p:txBody>
      </p:sp>
      <p:sp>
        <p:nvSpPr>
          <p:cNvPr id="13" name="Text Box 12"/>
          <p:cNvSpPr txBox="1"/>
          <p:nvPr/>
        </p:nvSpPr>
        <p:spPr>
          <a:xfrm>
            <a:off x="820420" y="3503930"/>
            <a:ext cx="4572000" cy="398780"/>
          </a:xfrm>
          <a:prstGeom prst="rect">
            <a:avLst/>
          </a:prstGeom>
          <a:noFill/>
        </p:spPr>
        <p:txBody>
          <a:bodyPr wrap="square" rtlCol="0" anchor="t">
            <a:spAutoFit/>
          </a:bodyPr>
          <a:p>
            <a:pPr marL="0" lvl="0" indent="0" rtl="0">
              <a:spcBef>
                <a:spcPts val="0"/>
              </a:spcBef>
              <a:spcAft>
                <a:spcPts val="0"/>
              </a:spcAft>
              <a:buClr>
                <a:schemeClr val="dk1"/>
              </a:buClr>
              <a:buSzPts val="1100"/>
              <a:buFont typeface="Arial" panose="020B0604020202020204"/>
              <a:buNone/>
            </a:pPr>
            <a:r>
              <a:rPr lang="en-US" sz="2000">
                <a:solidFill>
                  <a:schemeClr val="dk1"/>
                </a:solidFill>
                <a:latin typeface="Fira Sans Extra Condensed Medium" panose="020B0603050000020004"/>
                <a:ea typeface="Fira Sans Extra Condensed Medium" panose="020B0603050000020004"/>
                <a:cs typeface="Fira Sans Extra Condensed Medium" panose="020B0603050000020004"/>
                <a:sym typeface="+mn-ea"/>
              </a:rPr>
              <a:t>Pipelining  Hazards</a:t>
            </a:r>
            <a:endParaRPr lang="en-US" sz="2800" u="sng" dirty="0">
              <a:latin typeface="Fira Sans Extra Condensed SemiBold" panose="020B0803050000020004" charset="0"/>
              <a:sym typeface="+mn-ea"/>
            </a:endParaRPr>
          </a:p>
        </p:txBody>
      </p:sp>
      <p:sp>
        <p:nvSpPr>
          <p:cNvPr id="14" name="Text Box 13"/>
          <p:cNvSpPr txBox="1"/>
          <p:nvPr/>
        </p:nvSpPr>
        <p:spPr>
          <a:xfrm>
            <a:off x="820420" y="3999865"/>
            <a:ext cx="3048000" cy="398780"/>
          </a:xfrm>
          <a:prstGeom prst="rect">
            <a:avLst/>
          </a:prstGeom>
          <a:noFill/>
        </p:spPr>
        <p:txBody>
          <a:bodyPr wrap="square" rtlCol="0">
            <a:spAutoFit/>
          </a:bodyPr>
          <a:p>
            <a:r>
              <a:rPr lang="en-US" sz="2000">
                <a:solidFill>
                  <a:schemeClr val="dk1"/>
                </a:solidFill>
                <a:latin typeface="Fira Sans Extra Condensed Medium" panose="020B0603050000020004"/>
                <a:ea typeface="Fira Sans Extra Condensed Medium" panose="020B0603050000020004"/>
                <a:cs typeface="Fira Sans Extra Condensed Medium" panose="020B0603050000020004"/>
              </a:rPr>
              <a:t>conclusion</a:t>
            </a:r>
            <a:endParaRPr lang="en-US" altLang="en-US"/>
          </a:p>
        </p:txBody>
      </p:sp>
      <p:sp>
        <p:nvSpPr>
          <p:cNvPr id="18" name="Google Shape;326;p19"/>
          <p:cNvSpPr/>
          <p:nvPr/>
        </p:nvSpPr>
        <p:spPr>
          <a:xfrm rot="15997576">
            <a:off x="653544" y="1142822"/>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326;p19"/>
          <p:cNvSpPr/>
          <p:nvPr/>
        </p:nvSpPr>
        <p:spPr>
          <a:xfrm rot="15997576">
            <a:off x="653544" y="1644768"/>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326;p19"/>
          <p:cNvSpPr/>
          <p:nvPr/>
        </p:nvSpPr>
        <p:spPr>
          <a:xfrm rot="15997576">
            <a:off x="653544" y="2146757"/>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326;p19"/>
          <p:cNvSpPr/>
          <p:nvPr/>
        </p:nvSpPr>
        <p:spPr>
          <a:xfrm rot="15997576">
            <a:off x="653544" y="4155262"/>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326;p19"/>
          <p:cNvSpPr/>
          <p:nvPr/>
        </p:nvSpPr>
        <p:spPr>
          <a:xfrm rot="15997576">
            <a:off x="653544" y="2649042"/>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326;p19"/>
          <p:cNvSpPr/>
          <p:nvPr/>
        </p:nvSpPr>
        <p:spPr>
          <a:xfrm rot="15997576">
            <a:off x="653544" y="3151327"/>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326;p19"/>
          <p:cNvSpPr/>
          <p:nvPr/>
        </p:nvSpPr>
        <p:spPr>
          <a:xfrm rot="15997576">
            <a:off x="653544" y="3653612"/>
            <a:ext cx="146342" cy="88530"/>
          </a:xfrm>
          <a:custGeom>
            <a:avLst/>
            <a:gdLst/>
            <a:ahLst/>
            <a:cxnLst/>
            <a:rect l="l" t="t" r="r" b="b"/>
            <a:pathLst>
              <a:path w="7680" h="4646" extrusionOk="0">
                <a:moveTo>
                  <a:pt x="4333" y="1"/>
                </a:moveTo>
                <a:cubicBezTo>
                  <a:pt x="2744" y="1"/>
                  <a:pt x="983" y="180"/>
                  <a:pt x="555" y="465"/>
                </a:cubicBezTo>
                <a:cubicBezTo>
                  <a:pt x="1" y="849"/>
                  <a:pt x="2688" y="4645"/>
                  <a:pt x="3840" y="4645"/>
                </a:cubicBezTo>
                <a:cubicBezTo>
                  <a:pt x="4992" y="4645"/>
                  <a:pt x="7680" y="1019"/>
                  <a:pt x="7040" y="379"/>
                </a:cubicBezTo>
                <a:cubicBezTo>
                  <a:pt x="6756" y="114"/>
                  <a:pt x="5599" y="1"/>
                  <a:pt x="4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500">
                <a:sym typeface="+mn-ea"/>
              </a:rPr>
              <a:t>Abstract</a:t>
            </a:r>
            <a:endParaRPr lang="en-US" sz="3500">
              <a:sym typeface="+mn-ea"/>
            </a:endParaRPr>
          </a:p>
        </p:txBody>
      </p:sp>
      <p:sp>
        <p:nvSpPr>
          <p:cNvPr id="3" name="Text Box 2"/>
          <p:cNvSpPr txBox="1"/>
          <p:nvPr/>
        </p:nvSpPr>
        <p:spPr>
          <a:xfrm>
            <a:off x="788670" y="1280160"/>
            <a:ext cx="7743825" cy="3415030"/>
          </a:xfrm>
          <a:prstGeom prst="rect">
            <a:avLst/>
          </a:prstGeom>
          <a:noFill/>
        </p:spPr>
        <p:txBody>
          <a:bodyPr wrap="square" rtlCol="0">
            <a:spAutoFit/>
          </a:bodyPr>
          <a:p>
            <a:r>
              <a:rPr lang="en-US" altLang="en-US" sz="1800">
                <a:latin typeface="Calibri" panose="020F0502020204030204" charset="0"/>
                <a:cs typeface="Calibri" panose="020F0502020204030204" charset="0"/>
              </a:rPr>
              <a:t>We will explain the idea of instruction pipelining and why it makes processors much faster.</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Instead of running one instruction from start to finish in a single long cycle, pipelining breaks the instruction into smaller stages like </a:t>
            </a:r>
            <a:r>
              <a:rPr lang="en-US" altLang="en-US" sz="1800" b="1">
                <a:latin typeface="Calibri" panose="020F0502020204030204" charset="0"/>
                <a:cs typeface="Calibri" panose="020F0502020204030204" charset="0"/>
              </a:rPr>
              <a:t>fetch</a:t>
            </a:r>
            <a:r>
              <a:rPr lang="en-US" altLang="en-US" sz="1800">
                <a:latin typeface="Calibri" panose="020F0502020204030204" charset="0"/>
                <a:cs typeface="Calibri" panose="020F0502020204030204" charset="0"/>
              </a:rPr>
              <a:t>, </a:t>
            </a:r>
            <a:r>
              <a:rPr lang="en-US" altLang="en-US" sz="1800" b="1">
                <a:latin typeface="Calibri" panose="020F0502020204030204" charset="0"/>
                <a:cs typeface="Calibri" panose="020F0502020204030204" charset="0"/>
              </a:rPr>
              <a:t>decode</a:t>
            </a:r>
            <a:r>
              <a:rPr lang="en-US" altLang="en-US" sz="1800">
                <a:latin typeface="Calibri" panose="020F0502020204030204" charset="0"/>
                <a:cs typeface="Calibri" panose="020F0502020204030204" charset="0"/>
              </a:rPr>
              <a:t>, </a:t>
            </a:r>
            <a:r>
              <a:rPr lang="en-US" altLang="en-US" sz="1800" b="1">
                <a:latin typeface="Calibri" panose="020F0502020204030204" charset="0"/>
                <a:cs typeface="Calibri" panose="020F0502020204030204" charset="0"/>
              </a:rPr>
              <a:t>execute</a:t>
            </a:r>
            <a:r>
              <a:rPr lang="en-US" altLang="en-US" sz="1800">
                <a:latin typeface="Calibri" panose="020F0502020204030204" charset="0"/>
                <a:cs typeface="Calibri" panose="020F0502020204030204" charset="0"/>
              </a:rPr>
              <a:t>, and </a:t>
            </a:r>
            <a:r>
              <a:rPr lang="en-US" altLang="en-US" sz="1800" b="1">
                <a:latin typeface="Calibri" panose="020F0502020204030204" charset="0"/>
                <a:cs typeface="Calibri" panose="020F0502020204030204" charset="0"/>
              </a:rPr>
              <a:t>write-back</a:t>
            </a:r>
            <a:r>
              <a:rPr lang="en-US" altLang="en-US" sz="1800">
                <a:latin typeface="Calibri" panose="020F0502020204030204" charset="0"/>
                <a:cs typeface="Calibri" panose="020F0502020204030204" charset="0"/>
              </a:rPr>
              <a:t>. These stages run in parallel, so while one instruction is being decoded, another one is already being fetched.</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This overlap increases performance and makes better use of hardware, a simple comparison between single-cycle, multi-cycle, and pipelined processors is included to show how pipelining reduces cycle time and improves overall efficiency</a:t>
            </a:r>
            <a:endParaRPr lang="en-US" altLang="en-US" sz="1800">
              <a:latin typeface="Calibri" panose="020F0502020204030204" charset="0"/>
              <a:cs typeface="Calibri" panose="020F0502020204030204" charset="0"/>
            </a:endParaRPr>
          </a:p>
        </p:txBody>
      </p:sp>
      <p:grpSp>
        <p:nvGrpSpPr>
          <p:cNvPr id="10" name="Google Shape;112;p16"/>
          <p:cNvGrpSpPr/>
          <p:nvPr/>
        </p:nvGrpSpPr>
        <p:grpSpPr>
          <a:xfrm>
            <a:off x="8449497"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76945" y="4688205"/>
            <a:ext cx="321945" cy="306705"/>
          </a:xfrm>
          <a:prstGeom prst="rect">
            <a:avLst/>
          </a:prstGeom>
          <a:noFill/>
        </p:spPr>
        <p:txBody>
          <a:bodyPr wrap="square" rtlCol="0">
            <a:spAutoFit/>
          </a:bodyPr>
          <a:p>
            <a:pPr algn="ctr"/>
            <a:r>
              <a:rPr lang="en-US"/>
              <a:t>1</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0" name="Google Shape;110;p16"/>
          <p:cNvSpPr txBox="1">
            <a:spLocks noGrp="1"/>
          </p:cNvSpPr>
          <p:nvPr>
            <p:ph type="title"/>
          </p:nvPr>
        </p:nvSpPr>
        <p:spPr>
          <a:xfrm>
            <a:off x="457200" y="892728"/>
            <a:ext cx="8329395" cy="943007"/>
          </a:xfrm>
          <a:prstGeom prst="rect">
            <a:avLst/>
          </a:prstGeom>
        </p:spPr>
        <p:txBody>
          <a:bodyPr spcFirstLastPara="1" wrap="square" lIns="91425" tIns="91425" rIns="91425" bIns="91425" anchor="t" anchorCtr="0">
            <a:noAutofit/>
          </a:bodyPr>
          <a:lstStyle/>
          <a:p>
            <a:pPr lvl="0" algn="l"/>
            <a:r>
              <a:rPr lang="en-US" altLang="en-US" sz="1800">
                <a:solidFill>
                  <a:srgbClr val="000000"/>
                </a:solidFill>
                <a:latin typeface="Calibri" panose="020F0502020204030204" charset="0"/>
                <a:ea typeface="Arial" panose="020B0604020202020204"/>
                <a:cs typeface="Calibri" panose="020F0502020204030204" charset="0"/>
              </a:rPr>
              <a:t>The idea of pipelining is to divide the single-cycle instruction cycles into 5 separate stages, Then add a register between each stage so that different stages can happen in parallel, Each instruction is in different stage of completion.</a:t>
            </a:r>
            <a:br>
              <a:rPr lang="en-US" altLang="en-US" sz="1800">
                <a:solidFill>
                  <a:srgbClr val="000000"/>
                </a:solidFill>
                <a:latin typeface="Calibri" panose="020F0502020204030204" charset="0"/>
                <a:ea typeface="Arial" panose="020B0604020202020204"/>
                <a:cs typeface="Calibri" panose="020F0502020204030204" charset="0"/>
              </a:rPr>
            </a:br>
            <a:endParaRPr lang="en-US" altLang="en-US" sz="1800">
              <a:solidFill>
                <a:srgbClr val="000000"/>
              </a:solidFill>
              <a:latin typeface="Calibri" panose="020F0502020204030204" charset="0"/>
              <a:ea typeface="Arial" panose="020B0604020202020204"/>
              <a:cs typeface="Calibri" panose="020F0502020204030204" charset="0"/>
            </a:endParaRPr>
          </a:p>
        </p:txBody>
      </p:sp>
      <p:sp>
        <p:nvSpPr>
          <p:cNvPr id="111" name="Google Shape;111;p16"/>
          <p:cNvSpPr/>
          <p:nvPr/>
        </p:nvSpPr>
        <p:spPr>
          <a:xfrm>
            <a:off x="3515193" y="4999621"/>
            <a:ext cx="12335" cy="10017"/>
          </a:xfrm>
          <a:custGeom>
            <a:avLst/>
            <a:gdLst/>
            <a:ahLst/>
            <a:cxnLst/>
            <a:rect l="l" t="t" r="r" b="b"/>
            <a:pathLst>
              <a:path w="548" h="445" extrusionOk="0">
                <a:moveTo>
                  <a:pt x="274" y="0"/>
                </a:moveTo>
                <a:cubicBezTo>
                  <a:pt x="0" y="0"/>
                  <a:pt x="0" y="445"/>
                  <a:pt x="274" y="445"/>
                </a:cubicBezTo>
                <a:cubicBezTo>
                  <a:pt x="547" y="445"/>
                  <a:pt x="547" y="0"/>
                  <a:pt x="2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 name="Google Shape;110;p16"/>
          <p:cNvSpPr txBox="1"/>
          <p:nvPr/>
        </p:nvSpPr>
        <p:spPr>
          <a:xfrm>
            <a:off x="457200" y="251733"/>
            <a:ext cx="8229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r>
              <a:rPr lang="en-US" sz="3500"/>
              <a:t>introduction</a:t>
            </a:r>
            <a:endParaRPr lang="en-US" sz="3500"/>
          </a:p>
        </p:txBody>
      </p:sp>
      <p:pic>
        <p:nvPicPr>
          <p:cNvPr id="9" name="Picture 8" descr="A diagram of a single-cycle and a pipelined processor"/>
          <p:cNvPicPr>
            <a:picLocks noChangeAspect="1"/>
          </p:cNvPicPr>
          <p:nvPr/>
        </p:nvPicPr>
        <p:blipFill>
          <a:blip r:embed="rId1"/>
          <a:srcRect t="16735"/>
          <a:stretch>
            <a:fillRect/>
          </a:stretch>
        </p:blipFill>
        <p:spPr>
          <a:xfrm>
            <a:off x="1897324" y="1991286"/>
            <a:ext cx="5349351" cy="2762388"/>
          </a:xfrm>
          <a:prstGeom prst="rect">
            <a:avLst/>
          </a:prstGeom>
        </p:spPr>
      </p:pic>
      <p:grpSp>
        <p:nvGrpSpPr>
          <p:cNvPr id="10" name="Google Shape;112;p16"/>
          <p:cNvGrpSpPr/>
          <p:nvPr/>
        </p:nvGrpSpPr>
        <p:grpSpPr>
          <a:xfrm>
            <a:off x="8449497"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 name="Google Shape;110;p16"/>
          <p:cNvSpPr txBox="1"/>
          <p:nvPr/>
        </p:nvSpPr>
        <p:spPr>
          <a:xfrm>
            <a:off x="8602034" y="4632307"/>
            <a:ext cx="27023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r>
              <a:rPr lang="en-US" sz="14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500">
                <a:sym typeface="+mn-ea"/>
              </a:rPr>
              <a:t>introduction</a:t>
            </a:r>
            <a:endParaRPr lang="en-US" sz="3500">
              <a:sym typeface="+mn-ea"/>
            </a:endParaRPr>
          </a:p>
        </p:txBody>
      </p:sp>
      <p:sp>
        <p:nvSpPr>
          <p:cNvPr id="4" name="Text Box 3"/>
          <p:cNvSpPr txBox="1"/>
          <p:nvPr/>
        </p:nvSpPr>
        <p:spPr>
          <a:xfrm>
            <a:off x="805815" y="1092835"/>
            <a:ext cx="7533005" cy="1198880"/>
          </a:xfrm>
          <a:prstGeom prst="rect">
            <a:avLst/>
          </a:prstGeom>
          <a:noFill/>
        </p:spPr>
        <p:txBody>
          <a:bodyPr wrap="square" rtlCol="0" anchor="t">
            <a:spAutoFit/>
          </a:bodyPr>
          <a:p>
            <a:r>
              <a:rPr lang="en-US" altLang="en-US" sz="1800">
                <a:latin typeface="Calibri" panose="020F0502020204030204" charset="0"/>
                <a:cs typeface="Calibri" panose="020F0502020204030204" charset="0"/>
                <a:sym typeface="Arial" panose="020B0604020202020204"/>
              </a:rPr>
              <a:t>Instruction pipelining is like the use of an assembly line in a manufacturing plant. </a:t>
            </a:r>
            <a:br>
              <a:rPr lang="en-US" altLang="en-US" sz="1800">
                <a:latin typeface="Calibri" panose="020F0502020204030204" charset="0"/>
                <a:cs typeface="Calibri" panose="020F0502020204030204" charset="0"/>
                <a:sym typeface="Arial" panose="020B0604020202020204"/>
              </a:rPr>
            </a:br>
            <a:r>
              <a:rPr lang="en-US" altLang="en-US" sz="1800">
                <a:latin typeface="Calibri" panose="020F0502020204030204" charset="0"/>
                <a:cs typeface="Calibri" panose="020F0502020204030204" charset="0"/>
                <a:sym typeface="Arial" panose="020B0604020202020204"/>
              </a:rPr>
              <a:t>An assembly line takes advantage of the fact that a product goes through various stages of production.</a:t>
            </a:r>
            <a:endParaRPr lang="en-US" altLang="en-US" sz="1800">
              <a:latin typeface="Calibri" panose="020F0502020204030204" charset="0"/>
              <a:cs typeface="Calibri" panose="020F0502020204030204" charset="0"/>
              <a:sym typeface="Arial" panose="020B0604020202020204"/>
            </a:endParaRPr>
          </a:p>
        </p:txBody>
      </p:sp>
      <p:pic>
        <p:nvPicPr>
          <p:cNvPr id="12" name="Picture 11" descr="A diagram of a computer"/>
          <p:cNvPicPr>
            <a:picLocks noChangeAspect="1"/>
          </p:cNvPicPr>
          <p:nvPr/>
        </p:nvPicPr>
        <p:blipFill>
          <a:blip r:embed="rId1"/>
          <a:stretch>
            <a:fillRect/>
          </a:stretch>
        </p:blipFill>
        <p:spPr>
          <a:xfrm>
            <a:off x="1792605" y="2275840"/>
            <a:ext cx="5232400" cy="2656840"/>
          </a:xfrm>
          <a:prstGeom prst="rect">
            <a:avLst/>
          </a:prstGeom>
        </p:spPr>
      </p:pic>
      <p:grpSp>
        <p:nvGrpSpPr>
          <p:cNvPr id="10" name="Google Shape;112;p16"/>
          <p:cNvGrpSpPr/>
          <p:nvPr/>
        </p:nvGrpSpPr>
        <p:grpSpPr>
          <a:xfrm>
            <a:off x="8449497"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 name="Google Shape;110;p16"/>
          <p:cNvSpPr txBox="1"/>
          <p:nvPr/>
        </p:nvSpPr>
        <p:spPr>
          <a:xfrm>
            <a:off x="8602034" y="4632307"/>
            <a:ext cx="27023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r>
              <a:rPr lang="en-US" sz="1400" dirty="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6" name="Google Shape;276;p18"/>
          <p:cNvSpPr txBox="1">
            <a:spLocks noGrp="1"/>
          </p:cNvSpPr>
          <p:nvPr>
            <p:ph type="title"/>
          </p:nvPr>
        </p:nvSpPr>
        <p:spPr>
          <a:xfrm>
            <a:off x="457200" y="301200"/>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panose="020B0604020202020204"/>
              <a:buNone/>
            </a:pPr>
            <a:r>
              <a:rPr lang="en-US" sz="3500"/>
              <a:t>Single-</a:t>
            </a:r>
            <a:r>
              <a:rPr lang="en-US" sz="3500">
                <a:sym typeface="+mn-ea"/>
              </a:rPr>
              <a:t>Cycle</a:t>
            </a:r>
            <a:r>
              <a:rPr lang="en-US" sz="3500"/>
              <a:t> &amp; piprline</a:t>
            </a:r>
            <a:endParaRPr lang="en-US" sz="3500"/>
          </a:p>
        </p:txBody>
      </p:sp>
      <p:sp>
        <p:nvSpPr>
          <p:cNvPr id="5" name="مربع نص 4"/>
          <p:cNvSpPr txBox="1"/>
          <p:nvPr/>
        </p:nvSpPr>
        <p:spPr>
          <a:xfrm>
            <a:off x="649807" y="1243551"/>
            <a:ext cx="7844385" cy="3138170"/>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a:latin typeface="Fira Sans Extra Condensed SemiBold" panose="020B0803050000020004" charset="0"/>
              </a:rPr>
              <a:t> </a:t>
            </a:r>
            <a:r>
              <a:rPr lang="en-US" altLang="en-US" sz="1800" b="1">
                <a:latin typeface="Calibri" panose="020F0502020204030204" charset="0"/>
                <a:cs typeface="Calibri" panose="020F0502020204030204" charset="0"/>
              </a:rPr>
              <a:t>Single-Cycle Processor:</a:t>
            </a:r>
            <a:endParaRPr lang="en-US" altLang="en-US" sz="1800">
              <a:latin typeface="Calibri" panose="020F0502020204030204" charset="0"/>
              <a:cs typeface="Calibri" panose="020F0502020204030204" charset="0"/>
            </a:endParaRPr>
          </a:p>
          <a:p>
            <a:pPr marL="285750" indent="-285750">
              <a:buFont typeface="Courier New" panose="02070309020205020404" pitchFamily="49" charset="0"/>
              <a:buChar char="o"/>
            </a:pP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Each instruction completes all stages in one long cycle, no overlap between instructions-each waits for the previous, this makes execution simple but very slow.</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pPr marL="285750" indent="-285750">
              <a:buFont typeface="Courier New" panose="02070309020205020404" pitchFamily="49" charset="0"/>
              <a:buChar char="o"/>
            </a:pPr>
            <a:r>
              <a:rPr lang="en-US" altLang="en-US" sz="1800" b="1">
                <a:latin typeface="Calibri" panose="020F0502020204030204" charset="0"/>
                <a:cs typeface="Calibri" panose="020F0502020204030204" charset="0"/>
              </a:rPr>
              <a:t>Pipelined Processor:</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Each instruction is divided into stages that run in parallel, while one executes, the next one starts immediately, this overlap makes execution much faster.</a:t>
            </a:r>
            <a:endParaRPr lang="en-US" altLang="en-US" sz="1800">
              <a:latin typeface="Calibri" panose="020F0502020204030204" charset="0"/>
              <a:cs typeface="Calibri" panose="020F0502020204030204" charset="0"/>
            </a:endParaRPr>
          </a:p>
          <a:p>
            <a:r>
              <a:rPr lang="en-US" sz="1800" dirty="0"/>
              <a:t> </a:t>
            </a:r>
            <a:endParaRPr lang="en-US" sz="1800" dirty="0"/>
          </a:p>
        </p:txBody>
      </p:sp>
      <p:grpSp>
        <p:nvGrpSpPr>
          <p:cNvPr id="2" name="Google Shape;112;p16"/>
          <p:cNvGrpSpPr/>
          <p:nvPr/>
        </p:nvGrpSpPr>
        <p:grpSpPr>
          <a:xfrm>
            <a:off x="8448862" y="4623057"/>
            <a:ext cx="598619" cy="427610"/>
            <a:chOff x="5960837" y="2432603"/>
            <a:chExt cx="1149383" cy="696887"/>
          </a:xfrm>
        </p:grpSpPr>
        <p:sp>
          <p:nvSpPr>
            <p:cNvPr id="6"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 name="Text Box 8"/>
          <p:cNvSpPr txBox="1"/>
          <p:nvPr/>
        </p:nvSpPr>
        <p:spPr>
          <a:xfrm>
            <a:off x="8576945" y="4688205"/>
            <a:ext cx="321945" cy="306705"/>
          </a:xfrm>
          <a:prstGeom prst="rect">
            <a:avLst/>
          </a:prstGeom>
          <a:noFill/>
        </p:spPr>
        <p:txBody>
          <a:bodyPr wrap="square" rtlCol="0">
            <a:spAutoFit/>
          </a:bodyPr>
          <a:p>
            <a:pPr algn="ctr"/>
            <a:r>
              <a:rPr lang="en-US"/>
              <a:t>4</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1" name="Google Shape;111;p16"/>
          <p:cNvSpPr/>
          <p:nvPr/>
        </p:nvSpPr>
        <p:spPr>
          <a:xfrm>
            <a:off x="3515828" y="5221236"/>
            <a:ext cx="12335" cy="10017"/>
          </a:xfrm>
          <a:custGeom>
            <a:avLst/>
            <a:gdLst/>
            <a:ahLst/>
            <a:cxnLst/>
            <a:rect l="l" t="t" r="r" b="b"/>
            <a:pathLst>
              <a:path w="548" h="445" extrusionOk="0">
                <a:moveTo>
                  <a:pt x="274" y="0"/>
                </a:moveTo>
                <a:cubicBezTo>
                  <a:pt x="0" y="0"/>
                  <a:pt x="0" y="445"/>
                  <a:pt x="274" y="445"/>
                </a:cubicBezTo>
                <a:cubicBezTo>
                  <a:pt x="547" y="445"/>
                  <a:pt x="547" y="0"/>
                  <a:pt x="2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 name="Google Shape;110;p16"/>
          <p:cNvSpPr txBox="1"/>
          <p:nvPr/>
        </p:nvSpPr>
        <p:spPr>
          <a:xfrm>
            <a:off x="457835" y="380003"/>
            <a:ext cx="8229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pPr algn="ctr">
              <a:buFont typeface="Arial" panose="020B0604020202020204"/>
            </a:pPr>
            <a:r>
              <a:rPr lang="en-US" sz="3500"/>
              <a:t>Pipelining Strategy</a:t>
            </a:r>
            <a:endParaRPr lang="en-US" sz="3500"/>
          </a:p>
        </p:txBody>
      </p:sp>
      <p:sp>
        <p:nvSpPr>
          <p:cNvPr id="16" name="Google Shape;110;p16"/>
          <p:cNvSpPr txBox="1">
            <a:spLocks noGrp="1"/>
          </p:cNvSpPr>
          <p:nvPr>
            <p:ph type="title"/>
          </p:nvPr>
        </p:nvSpPr>
        <p:spPr>
          <a:xfrm>
            <a:off x="457835" y="1058545"/>
            <a:ext cx="8228965" cy="3891915"/>
          </a:xfrm>
          <a:prstGeom prst="rect">
            <a:avLst/>
          </a:prstGeom>
        </p:spPr>
        <p:txBody>
          <a:bodyPr spcFirstLastPara="1" wrap="square" lIns="91425" tIns="91425" rIns="91425" bIns="91425" anchor="t" anchorCtr="0">
            <a:noAutofit/>
          </a:bodyPr>
          <a:lstStyle/>
          <a:p>
            <a:pPr lvl="0" algn="l">
              <a:lnSpc>
                <a:spcPct val="90000"/>
              </a:lnSpc>
              <a:buSzTx/>
              <a:buFont typeface="Arial" panose="020B0604020202020204"/>
            </a:pPr>
            <a:r>
              <a:rPr lang="en-US" altLang="en-US" sz="1800">
                <a:solidFill>
                  <a:srgbClr val="000000"/>
                </a:solidFill>
                <a:latin typeface="Calibri" panose="020F0502020204030204" charset="0"/>
                <a:ea typeface="Arial" panose="020B0604020202020204"/>
                <a:cs typeface="Calibri" panose="020F0502020204030204" charset="0"/>
              </a:rPr>
              <a:t>1. </a:t>
            </a:r>
            <a:r>
              <a:rPr lang="en-US" altLang="en-US" sz="1800" b="1">
                <a:solidFill>
                  <a:srgbClr val="000000"/>
                </a:solidFill>
                <a:latin typeface="Calibri" panose="020F0502020204030204" charset="0"/>
                <a:ea typeface="Arial" panose="020B0604020202020204"/>
                <a:cs typeface="Calibri" panose="020F0502020204030204" charset="0"/>
                <a:sym typeface="Arial" panose="020B0604020202020204"/>
              </a:rPr>
              <a:t>Fetch Instruction (FI)          </a:t>
            </a: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Read the next instruction from memory.</a:t>
            </a: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2. </a:t>
            </a:r>
            <a:r>
              <a:rPr lang="en-US" altLang="en-US" sz="1800" b="1">
                <a:solidFill>
                  <a:srgbClr val="000000"/>
                </a:solidFill>
                <a:latin typeface="Calibri" panose="020F0502020204030204" charset="0"/>
                <a:ea typeface="Arial" panose="020B0604020202020204"/>
                <a:cs typeface="Calibri" panose="020F0502020204030204" charset="0"/>
                <a:sym typeface="Arial" panose="020B0604020202020204"/>
              </a:rPr>
              <a:t>Decode Instruction (DI)</a:t>
            </a: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          Identify the instruction type (opcode) .</a:t>
            </a: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3. </a:t>
            </a:r>
            <a:r>
              <a:rPr lang="en-US" altLang="en-US" sz="1800" b="1">
                <a:solidFill>
                  <a:srgbClr val="000000"/>
                </a:solidFill>
                <a:latin typeface="Calibri" panose="020F0502020204030204" charset="0"/>
                <a:ea typeface="Arial" panose="020B0604020202020204"/>
                <a:cs typeface="Calibri" panose="020F0502020204030204" charset="0"/>
                <a:sym typeface="Arial" panose="020B0604020202020204"/>
              </a:rPr>
              <a:t>Calculate Operands (CO)          </a:t>
            </a: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Compute the memory address of each operand. </a:t>
            </a: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4. </a:t>
            </a:r>
            <a:r>
              <a:rPr lang="en-US" altLang="en-US" sz="1800" b="1">
                <a:solidFill>
                  <a:srgbClr val="000000"/>
                </a:solidFill>
                <a:latin typeface="Calibri" panose="020F0502020204030204" charset="0"/>
                <a:ea typeface="Arial" panose="020B0604020202020204"/>
                <a:cs typeface="Calibri" panose="020F0502020204030204" charset="0"/>
                <a:sym typeface="Arial" panose="020B0604020202020204"/>
              </a:rPr>
              <a:t>Fetch Operands (FO)          </a:t>
            </a: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Retrieve the required operands from memory.</a:t>
            </a: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5. </a:t>
            </a:r>
            <a:r>
              <a:rPr lang="en-US" altLang="en-US" sz="1800" b="1">
                <a:solidFill>
                  <a:srgbClr val="000000"/>
                </a:solidFill>
                <a:latin typeface="Calibri" panose="020F0502020204030204" charset="0"/>
                <a:ea typeface="Arial" panose="020B0604020202020204"/>
                <a:cs typeface="Calibri" panose="020F0502020204030204" charset="0"/>
                <a:sym typeface="Arial" panose="020B0604020202020204"/>
              </a:rPr>
              <a:t>Execute Instruction (EI)          </a:t>
            </a: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Carry the operation and write the result to location.</a:t>
            </a: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b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b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6. </a:t>
            </a:r>
            <a:r>
              <a:rPr lang="en-US" altLang="en-US" sz="1800" b="1">
                <a:solidFill>
                  <a:srgbClr val="000000"/>
                </a:solidFill>
                <a:latin typeface="Calibri" panose="020F0502020204030204" charset="0"/>
                <a:ea typeface="Arial" panose="020B0604020202020204"/>
                <a:cs typeface="Calibri" panose="020F0502020204030204" charset="0"/>
                <a:sym typeface="Arial" panose="020B0604020202020204"/>
              </a:rPr>
              <a:t>Write operand (WO)          </a:t>
            </a:r>
            <a:r>
              <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rPr>
              <a:t>Store the result in memory.</a:t>
            </a:r>
            <a:endParaRPr lang="en-US" altLang="en-US" sz="1800">
              <a:solidFill>
                <a:srgbClr val="000000"/>
              </a:solidFill>
              <a:latin typeface="Calibri" panose="020F0502020204030204" charset="0"/>
              <a:ea typeface="Arial" panose="020B0604020202020204"/>
              <a:cs typeface="Calibri" panose="020F0502020204030204" charset="0"/>
              <a:sym typeface="Arial" panose="020B0604020202020204"/>
            </a:endParaRPr>
          </a:p>
        </p:txBody>
      </p:sp>
      <p:sp>
        <p:nvSpPr>
          <p:cNvPr id="8" name="Right Arrow 7"/>
          <p:cNvSpPr/>
          <p:nvPr/>
        </p:nvSpPr>
        <p:spPr>
          <a:xfrm>
            <a:off x="2851150" y="1170940"/>
            <a:ext cx="245745" cy="2006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ight Arrow 8"/>
          <p:cNvSpPr/>
          <p:nvPr/>
        </p:nvSpPr>
        <p:spPr>
          <a:xfrm>
            <a:off x="3096895" y="1646555"/>
            <a:ext cx="245745" cy="2006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Right Arrow 9"/>
          <p:cNvSpPr/>
          <p:nvPr/>
        </p:nvSpPr>
        <p:spPr>
          <a:xfrm>
            <a:off x="2851150" y="2665730"/>
            <a:ext cx="245745" cy="2006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Right Arrow 10"/>
          <p:cNvSpPr/>
          <p:nvPr/>
        </p:nvSpPr>
        <p:spPr>
          <a:xfrm>
            <a:off x="3270250" y="2164715"/>
            <a:ext cx="245745" cy="2006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Right Arrow 11"/>
          <p:cNvSpPr/>
          <p:nvPr/>
        </p:nvSpPr>
        <p:spPr>
          <a:xfrm>
            <a:off x="3096895" y="3173095"/>
            <a:ext cx="245745" cy="2006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 name="Right Arrow 12"/>
          <p:cNvSpPr/>
          <p:nvPr/>
        </p:nvSpPr>
        <p:spPr>
          <a:xfrm>
            <a:off x="2851150" y="3627120"/>
            <a:ext cx="245745" cy="2006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grpSp>
        <p:nvGrpSpPr>
          <p:cNvPr id="14" name="Google Shape;112;p16"/>
          <p:cNvGrpSpPr/>
          <p:nvPr/>
        </p:nvGrpSpPr>
        <p:grpSpPr>
          <a:xfrm>
            <a:off x="8449497" y="4523362"/>
            <a:ext cx="598619" cy="427610"/>
            <a:chOff x="5960837" y="2432603"/>
            <a:chExt cx="1149383" cy="696887"/>
          </a:xfrm>
        </p:grpSpPr>
        <p:sp>
          <p:nvSpPr>
            <p:cNvPr id="15"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9" name="Text Box 18"/>
          <p:cNvSpPr txBox="1"/>
          <p:nvPr/>
        </p:nvSpPr>
        <p:spPr>
          <a:xfrm>
            <a:off x="8577580" y="4588510"/>
            <a:ext cx="321945" cy="306705"/>
          </a:xfrm>
          <a:prstGeom prst="rect">
            <a:avLst/>
          </a:prstGeom>
          <a:noFill/>
        </p:spPr>
        <p:txBody>
          <a:bodyPr wrap="square" rtlCol="0">
            <a:spAutoFit/>
          </a:bodyPr>
          <a:p>
            <a:pPr algn="ctr"/>
            <a:r>
              <a:rPr lang="en-US"/>
              <a:t>5</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1" name="Google Shape;111;p16"/>
          <p:cNvSpPr/>
          <p:nvPr/>
        </p:nvSpPr>
        <p:spPr>
          <a:xfrm>
            <a:off x="3515193" y="4999621"/>
            <a:ext cx="12335" cy="10017"/>
          </a:xfrm>
          <a:custGeom>
            <a:avLst/>
            <a:gdLst/>
            <a:ahLst/>
            <a:cxnLst/>
            <a:rect l="l" t="t" r="r" b="b"/>
            <a:pathLst>
              <a:path w="548" h="445" extrusionOk="0">
                <a:moveTo>
                  <a:pt x="274" y="0"/>
                </a:moveTo>
                <a:cubicBezTo>
                  <a:pt x="0" y="0"/>
                  <a:pt x="0" y="445"/>
                  <a:pt x="274" y="445"/>
                </a:cubicBezTo>
                <a:cubicBezTo>
                  <a:pt x="547" y="445"/>
                  <a:pt x="547" y="0"/>
                  <a:pt x="2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 name="Google Shape;112;p16"/>
          <p:cNvGrpSpPr/>
          <p:nvPr/>
        </p:nvGrpSpPr>
        <p:grpSpPr>
          <a:xfrm>
            <a:off x="8449497" y="4623057"/>
            <a:ext cx="598619" cy="427610"/>
            <a:chOff x="5960837" y="2432603"/>
            <a:chExt cx="1149383" cy="696887"/>
          </a:xfrm>
        </p:grpSpPr>
        <p:sp>
          <p:nvSpPr>
            <p:cNvPr id="4"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 name="Google Shape;110;p16"/>
          <p:cNvSpPr txBox="1"/>
          <p:nvPr/>
        </p:nvSpPr>
        <p:spPr>
          <a:xfrm>
            <a:off x="457200" y="158388"/>
            <a:ext cx="8229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ctr" rtl="0">
              <a:lnSpc>
                <a:spcPct val="100000"/>
              </a:lnSpc>
              <a:spcBef>
                <a:spcPts val="0"/>
              </a:spcBef>
              <a:spcAft>
                <a:spcPts val="0"/>
              </a:spcAft>
              <a:buClr>
                <a:srgbClr val="000000"/>
              </a:buClr>
              <a:buSzPts val="2600"/>
              <a:buFont typeface="Fira Sans Extra Condensed Medium" panose="020B0603050000020004"/>
              <a:buNone/>
              <a:defRPr sz="2600" b="0" i="0" u="none" strike="noStrike" cap="none">
                <a:solidFill>
                  <a:srgbClr val="000000"/>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a:endParaRPr lang="en-US" sz="2800" u="sng" dirty="0"/>
          </a:p>
        </p:txBody>
      </p:sp>
      <p:sp>
        <p:nvSpPr>
          <p:cNvPr id="16" name="Google Shape;110;p16"/>
          <p:cNvSpPr txBox="1">
            <a:spLocks noGrp="1"/>
          </p:cNvSpPr>
          <p:nvPr>
            <p:ph type="title"/>
          </p:nvPr>
        </p:nvSpPr>
        <p:spPr>
          <a:xfrm>
            <a:off x="457201" y="740329"/>
            <a:ext cx="7767758" cy="572700"/>
          </a:xfrm>
          <a:prstGeom prst="rect">
            <a:avLst/>
          </a:prstGeom>
        </p:spPr>
        <p:txBody>
          <a:bodyPr spcFirstLastPara="1" wrap="square" lIns="91425" tIns="91425" rIns="91425" bIns="91425" anchor="t" anchorCtr="0">
            <a:noAutofit/>
          </a:bodyPr>
          <a:lstStyle/>
          <a:p>
            <a:pPr lvl="0" algn="l">
              <a:lnSpc>
                <a:spcPct val="150000"/>
              </a:lnSpc>
              <a:buSzTx/>
              <a:defRPr/>
            </a:pPr>
            <a:r>
              <a:rPr lang="en-US" sz="1800" dirty="0"/>
              <a:t>Timing Diagram for Instruction Pipeline Operation.</a:t>
            </a:r>
            <a:endParaRPr lang="en-US" sz="1800" dirty="0">
              <a:sym typeface="Arial" panose="020B0604020202020204"/>
            </a:endParaRPr>
          </a:p>
        </p:txBody>
      </p:sp>
      <p:pic>
        <p:nvPicPr>
          <p:cNvPr id="9" name="Picture 8" descr="A grid with black and white text"/>
          <p:cNvPicPr>
            <a:picLocks noChangeAspect="1"/>
          </p:cNvPicPr>
          <p:nvPr/>
        </p:nvPicPr>
        <p:blipFill>
          <a:blip r:embed="rId1"/>
          <a:stretch>
            <a:fillRect/>
          </a:stretch>
        </p:blipFill>
        <p:spPr>
          <a:xfrm>
            <a:off x="1920522" y="1312394"/>
            <a:ext cx="4841945" cy="3263050"/>
          </a:xfrm>
          <a:prstGeom prst="rect">
            <a:avLst/>
          </a:prstGeom>
        </p:spPr>
      </p:pic>
      <p:sp>
        <p:nvSpPr>
          <p:cNvPr id="8" name="Text Box 7"/>
          <p:cNvSpPr txBox="1"/>
          <p:nvPr/>
        </p:nvSpPr>
        <p:spPr>
          <a:xfrm>
            <a:off x="8576945" y="4688205"/>
            <a:ext cx="321945" cy="306705"/>
          </a:xfrm>
          <a:prstGeom prst="rect">
            <a:avLst/>
          </a:prstGeom>
          <a:noFill/>
        </p:spPr>
        <p:txBody>
          <a:bodyPr wrap="square" rtlCol="0">
            <a:spAutoFit/>
          </a:bodyPr>
          <a:p>
            <a:pPr algn="ctr"/>
            <a:r>
              <a:rPr lang="en-US"/>
              <a:t>6</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500"/>
              <a:t>Pipeline difficulties</a:t>
            </a:r>
            <a:endParaRPr lang="en-US" altLang="en-US" sz="3500"/>
          </a:p>
        </p:txBody>
      </p:sp>
      <p:sp>
        <p:nvSpPr>
          <p:cNvPr id="3" name="Text Box 2"/>
          <p:cNvSpPr txBox="1"/>
          <p:nvPr/>
        </p:nvSpPr>
        <p:spPr>
          <a:xfrm>
            <a:off x="784860" y="1092835"/>
            <a:ext cx="7123430" cy="3138170"/>
          </a:xfrm>
          <a:prstGeom prst="rect">
            <a:avLst/>
          </a:prstGeom>
          <a:noFill/>
        </p:spPr>
        <p:txBody>
          <a:bodyPr wrap="square" rtlCol="0">
            <a:spAutoFit/>
          </a:bodyPr>
          <a:p>
            <a:r>
              <a:rPr lang="en-US" altLang="en-US" sz="1800">
                <a:latin typeface="Calibri" panose="020F0502020204030204" charset="0"/>
                <a:cs typeface="Calibri" panose="020F0502020204030204" charset="0"/>
              </a:rPr>
              <a:t>Pipelining doesn’t always achieve ideal speed because some stages may take longer than others, causing delays.</a:t>
            </a: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The biggest slowdown comes from </a:t>
            </a:r>
            <a:r>
              <a:rPr lang="en-US" altLang="en-US" sz="1800" b="1">
                <a:latin typeface="Calibri" panose="020F0502020204030204" charset="0"/>
                <a:cs typeface="Calibri" panose="020F0502020204030204" charset="0"/>
              </a:rPr>
              <a:t>conditional branches</a:t>
            </a:r>
            <a:r>
              <a:rPr lang="en-US" altLang="en-US" sz="1800">
                <a:latin typeface="Calibri" panose="020F0502020204030204" charset="0"/>
                <a:cs typeface="Calibri" panose="020F0502020204030204" charset="0"/>
              </a:rPr>
              <a:t> and </a:t>
            </a:r>
            <a:r>
              <a:rPr lang="en-US" altLang="en-US" sz="1800" b="1">
                <a:latin typeface="Calibri" panose="020F0502020204030204" charset="0"/>
                <a:cs typeface="Calibri" panose="020F0502020204030204" charset="0"/>
              </a:rPr>
              <a:t>interrupts</a:t>
            </a:r>
            <a:r>
              <a:rPr lang="en-US" altLang="en-US" sz="1800">
                <a:latin typeface="Calibri" panose="020F0502020204030204" charset="0"/>
                <a:cs typeface="Calibri" panose="020F0502020204030204" charset="0"/>
              </a:rPr>
              <a:t>, which make the next instruction unpredictable.</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If a branch is taken, the CPU discovers this too late, so the incorrect instructions already loaded in the pipeline must be cleared.this results in several wasted cycles.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Modern CPUs reduce this penalty using dedicated logic to handle branches and interrupts more efficiently (like  figure B).</a:t>
            </a:r>
            <a:endParaRPr lang="en-US" altLang="en-US" sz="1800">
              <a:latin typeface="Calibri" panose="020F0502020204030204" charset="0"/>
              <a:cs typeface="Calibri" panose="020F0502020204030204" charset="0"/>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76945" y="4688205"/>
            <a:ext cx="321945" cy="306705"/>
          </a:xfrm>
          <a:prstGeom prst="rect">
            <a:avLst/>
          </a:prstGeom>
          <a:noFill/>
        </p:spPr>
        <p:txBody>
          <a:bodyPr wrap="square" rtlCol="0">
            <a:spAutoFit/>
          </a:bodyPr>
          <a:p>
            <a:pPr algn="ctr"/>
            <a:r>
              <a:rPr lang="en-US"/>
              <a:t>7</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rcRect l="1879" t="1884" r="2210" b="1835"/>
          <a:stretch>
            <a:fillRect/>
          </a:stretch>
        </p:blipFill>
        <p:spPr>
          <a:xfrm>
            <a:off x="5174615" y="449580"/>
            <a:ext cx="2948940" cy="3764280"/>
          </a:xfrm>
          <a:prstGeom prst="rect">
            <a:avLst/>
          </a:prstGeom>
        </p:spPr>
      </p:pic>
      <p:pic>
        <p:nvPicPr>
          <p:cNvPr id="5" name="Picture 4"/>
          <p:cNvPicPr>
            <a:picLocks noChangeAspect="1"/>
          </p:cNvPicPr>
          <p:nvPr/>
        </p:nvPicPr>
        <p:blipFill>
          <a:blip r:embed="rId2"/>
          <a:srcRect l="1319" t="2385" r="1410" b="1476"/>
          <a:stretch>
            <a:fillRect/>
          </a:stretch>
        </p:blipFill>
        <p:spPr>
          <a:xfrm>
            <a:off x="251460" y="781050"/>
            <a:ext cx="4776470" cy="2828290"/>
          </a:xfrm>
          <a:prstGeom prst="rect">
            <a:avLst/>
          </a:prstGeom>
        </p:spPr>
      </p:pic>
      <p:sp>
        <p:nvSpPr>
          <p:cNvPr id="6" name="Text Box 5"/>
          <p:cNvSpPr txBox="1"/>
          <p:nvPr/>
        </p:nvSpPr>
        <p:spPr>
          <a:xfrm>
            <a:off x="1115695" y="3724275"/>
            <a:ext cx="3048000" cy="306705"/>
          </a:xfrm>
          <a:prstGeom prst="rect">
            <a:avLst/>
          </a:prstGeom>
          <a:noFill/>
        </p:spPr>
        <p:txBody>
          <a:bodyPr wrap="square" rtlCol="0">
            <a:spAutoFit/>
          </a:bodyPr>
          <a:p>
            <a:pPr algn="ctr"/>
            <a:r>
              <a:rPr lang="en-US"/>
              <a:t>(A)</a:t>
            </a:r>
            <a:endParaRPr lang="en-US"/>
          </a:p>
        </p:txBody>
      </p:sp>
      <p:sp>
        <p:nvSpPr>
          <p:cNvPr id="7" name="Text Box 6"/>
          <p:cNvSpPr txBox="1"/>
          <p:nvPr/>
        </p:nvSpPr>
        <p:spPr>
          <a:xfrm>
            <a:off x="5125085" y="4213860"/>
            <a:ext cx="3048000" cy="306705"/>
          </a:xfrm>
          <a:prstGeom prst="rect">
            <a:avLst/>
          </a:prstGeom>
          <a:noFill/>
        </p:spPr>
        <p:txBody>
          <a:bodyPr wrap="square" rtlCol="0">
            <a:spAutoFit/>
          </a:bodyPr>
          <a:p>
            <a:pPr algn="ctr"/>
            <a:r>
              <a:rPr lang="en-US"/>
              <a:t>(B)</a:t>
            </a:r>
            <a:endParaRPr lang="en-US"/>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 name="Text Box 1"/>
          <p:cNvSpPr txBox="1"/>
          <p:nvPr/>
        </p:nvSpPr>
        <p:spPr>
          <a:xfrm>
            <a:off x="8576945" y="4688205"/>
            <a:ext cx="321945" cy="306705"/>
          </a:xfrm>
          <a:prstGeom prst="rect">
            <a:avLst/>
          </a:prstGeom>
          <a:noFill/>
        </p:spPr>
        <p:txBody>
          <a:bodyPr wrap="square" rtlCol="0">
            <a:spAutoFit/>
          </a:bodyPr>
          <a:p>
            <a:pPr algn="ctr"/>
            <a:r>
              <a:rPr lang="en-US"/>
              <a:t>8</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500" b="1" dirty="0">
                <a:sym typeface="+mn-ea"/>
              </a:rPr>
              <a:t>Why Pipeline?</a:t>
            </a:r>
            <a:endParaRPr lang="en-US" sz="3500"/>
          </a:p>
        </p:txBody>
      </p:sp>
      <p:sp>
        <p:nvSpPr>
          <p:cNvPr id="3" name="Text Box 2"/>
          <p:cNvSpPr txBox="1"/>
          <p:nvPr/>
        </p:nvSpPr>
        <p:spPr>
          <a:xfrm>
            <a:off x="1584960" y="1624330"/>
            <a:ext cx="6146800" cy="2030095"/>
          </a:xfrm>
          <a:prstGeom prst="rect">
            <a:avLst/>
          </a:prstGeom>
          <a:noFill/>
        </p:spPr>
        <p:txBody>
          <a:bodyPr wrap="square" rtlCol="0" anchor="t">
            <a:spAutoFit/>
          </a:bodyPr>
          <a:p>
            <a:pPr marL="0" algn="l">
              <a:buSzTx/>
              <a:buNone/>
            </a:pPr>
            <a:r>
              <a:rPr lang="en-US" altLang="en-US" sz="1800">
                <a:latin typeface="Calibri" panose="020F0502020204030204" charset="0"/>
                <a:cs typeface="Calibri" panose="020F0502020204030204" charset="0"/>
                <a:sym typeface="+mn-ea"/>
              </a:rPr>
              <a:t>If we execute 100 instructions</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sym typeface="+mn-ea"/>
              </a:rPr>
              <a:t>Single Cycle Machine:</a:t>
            </a: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sym typeface="+mn-ea"/>
              </a:rPr>
              <a:t>• 45 ns/cycle x 1 CPI x 100 inst = 4500 ns</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sym typeface="+mn-ea"/>
              </a:rPr>
              <a:t> Ideal pipelined machine:</a:t>
            </a: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sym typeface="+mn-ea"/>
              </a:rPr>
              <a:t>• 10 ns/cycle x (1 CPI x 100 inst + 4 cycle drain) = 1040 ns</a:t>
            </a:r>
            <a:endParaRPr lang="en-US" altLang="en-US" sz="1800">
              <a:latin typeface="Calibri" panose="020F0502020204030204" charset="0"/>
              <a:cs typeface="Calibri" panose="020F0502020204030204" charset="0"/>
              <a:sym typeface="+mn-ea"/>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76945" y="4688205"/>
            <a:ext cx="321945" cy="306705"/>
          </a:xfrm>
          <a:prstGeom prst="rect">
            <a:avLst/>
          </a:prstGeom>
          <a:noFill/>
        </p:spPr>
        <p:txBody>
          <a:bodyPr wrap="square" rtlCol="0">
            <a:spAutoFit/>
          </a:bodyPr>
          <a:p>
            <a:pPr algn="ctr"/>
            <a:r>
              <a:rPr lang="en-US"/>
              <a:t>9</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17"/>
          <p:cNvSpPr txBox="1">
            <a:spLocks noGrp="1"/>
          </p:cNvSpPr>
          <p:nvPr>
            <p:ph type="title"/>
          </p:nvPr>
        </p:nvSpPr>
        <p:spPr>
          <a:xfrm>
            <a:off x="457200" y="301200"/>
            <a:ext cx="82296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chemeClr val="dk1"/>
              </a:buClr>
              <a:buSzPts val="1100"/>
              <a:buFont typeface="Arial" panose="020B0604020202020204"/>
              <a:buNone/>
            </a:pPr>
            <a:r>
              <a:rPr lang="en-US" sz="3500"/>
              <a:t>Pipeline  Hazards</a:t>
            </a:r>
            <a:endParaRPr lang="en-US" sz="3500"/>
          </a:p>
        </p:txBody>
      </p:sp>
      <p:sp>
        <p:nvSpPr>
          <p:cNvPr id="4" name="مربع نص 3"/>
          <p:cNvSpPr txBox="1"/>
          <p:nvPr/>
        </p:nvSpPr>
        <p:spPr>
          <a:xfrm>
            <a:off x="608951" y="1191128"/>
            <a:ext cx="7926097" cy="1198880"/>
          </a:xfrm>
          <a:prstGeom prst="rect">
            <a:avLst/>
          </a:prstGeom>
          <a:noFill/>
        </p:spPr>
        <p:txBody>
          <a:bodyPr wrap="square" rtlCol="0">
            <a:spAutoFit/>
          </a:bodyPr>
          <a:lstStyle/>
          <a:p>
            <a:r>
              <a:rPr lang="en-US" altLang="en-US" sz="1800">
                <a:latin typeface="Calibri" panose="020F0502020204030204" charset="0"/>
                <a:cs typeface="Calibri" panose="020F0502020204030204" charset="0"/>
              </a:rPr>
              <a:t>When do pipeline hazards occur?! </a:t>
            </a: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when the pipeline, or some portion of the pipeline, must stall because conditions do not permit continued execution. Such a pipeline stall is also referred to as a pipeline bubble. There are three types of hazards:</a:t>
            </a:r>
            <a:endParaRPr lang="en-US" altLang="en-US" sz="1800">
              <a:latin typeface="Calibri" panose="020F0502020204030204" charset="0"/>
              <a:cs typeface="Calibri" panose="020F0502020204030204" charset="0"/>
            </a:endParaRPr>
          </a:p>
        </p:txBody>
      </p:sp>
      <p:sp>
        <p:nvSpPr>
          <p:cNvPr id="5" name="مربع نص 4"/>
          <p:cNvSpPr txBox="1"/>
          <p:nvPr/>
        </p:nvSpPr>
        <p:spPr>
          <a:xfrm>
            <a:off x="673153" y="2498359"/>
            <a:ext cx="2178996" cy="1476375"/>
          </a:xfrm>
          <a:prstGeom prst="rect">
            <a:avLst/>
          </a:prstGeom>
          <a:noFill/>
        </p:spPr>
        <p:txBody>
          <a:bodyPr wrap="square" rtlCol="0">
            <a:spAutoFit/>
          </a:bodyPr>
          <a:lstStyle/>
          <a:p>
            <a:pPr marL="285750" indent="-285750" algn="l">
              <a:buSzTx/>
              <a:buFont typeface="Wingdings" panose="05000000000000000000" charset="0"/>
              <a:buChar char="Ø"/>
            </a:pPr>
            <a:r>
              <a:rPr lang="en-US" altLang="en-US" sz="1800">
                <a:latin typeface="Calibri" panose="020F0502020204030204" charset="0"/>
                <a:cs typeface="Calibri" panose="020F0502020204030204" charset="0"/>
              </a:rPr>
              <a:t>Resource Hazards</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marL="285750" indent="-285750" algn="l">
              <a:buSzTx/>
              <a:buFont typeface="Wingdings" panose="05000000000000000000" charset="0"/>
              <a:buChar char="Ø"/>
            </a:pPr>
            <a:r>
              <a:rPr lang="en-US" altLang="en-US" sz="1800">
                <a:latin typeface="Calibri" panose="020F0502020204030204" charset="0"/>
                <a:cs typeface="Calibri" panose="020F0502020204030204" charset="0"/>
              </a:rPr>
              <a:t>Data Hazards</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marL="285750" indent="-285750" algn="l">
              <a:buSzTx/>
              <a:buFont typeface="Wingdings" panose="05000000000000000000" charset="0"/>
              <a:buChar char="Ø"/>
            </a:pPr>
            <a:r>
              <a:rPr lang="en-US" altLang="en-US" sz="1800">
                <a:latin typeface="Calibri" panose="020F0502020204030204" charset="0"/>
                <a:cs typeface="Calibri" panose="020F0502020204030204" charset="0"/>
              </a:rPr>
              <a:t>Control Hazards</a:t>
            </a:r>
            <a:endParaRPr lang="en-US" altLang="en-US" sz="1800" dirty="0">
              <a:latin typeface="Calibri" panose="020F0502020204030204" charset="0"/>
              <a:cs typeface="Calibri" panose="020F0502020204030204" charset="0"/>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 name="Text Box 1"/>
          <p:cNvSpPr txBox="1"/>
          <p:nvPr/>
        </p:nvSpPr>
        <p:spPr>
          <a:xfrm>
            <a:off x="8496935" y="4688205"/>
            <a:ext cx="470535" cy="306705"/>
          </a:xfrm>
          <a:prstGeom prst="rect">
            <a:avLst/>
          </a:prstGeom>
          <a:noFill/>
        </p:spPr>
        <p:txBody>
          <a:bodyPr wrap="square" rtlCol="0">
            <a:spAutoFit/>
          </a:bodyPr>
          <a:p>
            <a:pPr algn="ctr"/>
            <a:r>
              <a:rPr lang="en-US"/>
              <a:t>10</a:t>
            </a:r>
            <a:endParaRPr lang="en-US"/>
          </a:p>
        </p:txBody>
      </p:sp>
      <p:pic>
        <p:nvPicPr>
          <p:cNvPr id="3" name="Picture 2"/>
          <p:cNvPicPr>
            <a:picLocks noChangeAspect="1"/>
          </p:cNvPicPr>
          <p:nvPr/>
        </p:nvPicPr>
        <p:blipFill>
          <a:blip r:embed="rId1"/>
          <a:stretch>
            <a:fillRect/>
          </a:stretch>
        </p:blipFill>
        <p:spPr>
          <a:xfrm>
            <a:off x="3234055" y="2585085"/>
            <a:ext cx="5262880" cy="13023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838835" y="1207135"/>
            <a:ext cx="7703820" cy="2861310"/>
          </a:xfrm>
          <a:prstGeom prst="rect">
            <a:avLst/>
          </a:prstGeom>
          <a:noFill/>
        </p:spPr>
        <p:txBody>
          <a:bodyPr wrap="square" rtlCol="0">
            <a:spAutoFit/>
          </a:bodyPr>
          <a:p>
            <a:pPr marL="285750" indent="-285750">
              <a:buFont typeface="Wingdings" panose="05000000000000000000" charset="0"/>
              <a:buChar char="v"/>
            </a:pPr>
            <a:r>
              <a:rPr lang="en-US" altLang="en-US" sz="1800" b="1">
                <a:latin typeface="Calibri" panose="020F0502020204030204" charset="0"/>
                <a:cs typeface="Calibri" panose="020F0502020204030204" charset="0"/>
              </a:rPr>
              <a:t>Resource Hazards: </a:t>
            </a: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Happen when multiple instructions need the same hardware, causing delays.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pPr marL="285750" indent="-285750">
              <a:buFont typeface="Wingdings" panose="05000000000000000000" charset="0"/>
              <a:buChar char="v"/>
            </a:pPr>
            <a:r>
              <a:rPr lang="en-US" altLang="en-US" sz="1800" b="1">
                <a:latin typeface="Calibri" panose="020F0502020204030204" charset="0"/>
                <a:cs typeface="Calibri" panose="020F0502020204030204" charset="0"/>
              </a:rPr>
              <a:t>Data Hazards:</a:t>
            </a:r>
            <a:r>
              <a:rPr lang="en-US" altLang="en-US" sz="1800">
                <a:latin typeface="Calibri" panose="020F0502020204030204" charset="0"/>
                <a:cs typeface="Calibri" panose="020F0502020204030204" charset="0"/>
              </a:rPr>
              <a:t> </a:t>
            </a: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Occur when an instruction depends on data that hasn’t been updated yet, requiring stalls (</a:t>
            </a:r>
            <a:r>
              <a:rPr lang="en-US" altLang="en-US" sz="1800">
                <a:sym typeface="+mn-ea"/>
              </a:rPr>
              <a:t>bubble)</a:t>
            </a:r>
            <a:r>
              <a:rPr lang="en-US" altLang="en-US" sz="1800">
                <a:latin typeface="Calibri" panose="020F0502020204030204" charset="0"/>
                <a:cs typeface="Calibri" panose="020F0502020204030204" charset="0"/>
              </a:rPr>
              <a:t> or forwarding to avoid errors.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pPr marL="285750" indent="-285750">
              <a:buFont typeface="Wingdings" panose="05000000000000000000" charset="0"/>
              <a:buChar char="v"/>
            </a:pPr>
            <a:r>
              <a:rPr lang="en-US" altLang="en-US" sz="1800" b="1">
                <a:latin typeface="Calibri" panose="020F0502020204030204" charset="0"/>
                <a:cs typeface="Calibri" panose="020F0502020204030204" charset="0"/>
              </a:rPr>
              <a:t>Control Hazards:</a:t>
            </a:r>
            <a:r>
              <a:rPr lang="en-US" altLang="en-US" sz="1800">
                <a:latin typeface="Calibri" panose="020F0502020204030204" charset="0"/>
                <a:cs typeface="Calibri" panose="020F0502020204030204" charset="0"/>
              </a:rPr>
              <a:t> </a:t>
            </a: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Caused by branches when the CPU fetches the wrong instructions, which must then be discarded.</a:t>
            </a:r>
            <a:endParaRPr lang="en-US" altLang="en-US" sz="1800">
              <a:latin typeface="Calibri" panose="020F0502020204030204" charset="0"/>
              <a:cs typeface="Calibri" panose="020F0502020204030204" charset="0"/>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16620" y="4688205"/>
            <a:ext cx="441325" cy="306705"/>
          </a:xfrm>
          <a:prstGeom prst="rect">
            <a:avLst/>
          </a:prstGeom>
          <a:noFill/>
        </p:spPr>
        <p:txBody>
          <a:bodyPr wrap="square" rtlCol="0">
            <a:spAutoFit/>
          </a:bodyPr>
          <a:p>
            <a:pPr algn="ctr"/>
            <a:r>
              <a:rPr lang="en-US"/>
              <a:t>11</a:t>
            </a:r>
            <a:endParaRPr lang="en-US"/>
          </a:p>
        </p:txBody>
      </p:sp>
      <p:sp>
        <p:nvSpPr>
          <p:cNvPr id="159" name="Google Shape;159;p17"/>
          <p:cNvSpPr txBox="1">
            <a:spLocks noGrp="1"/>
          </p:cNvSpPr>
          <p:nvPr>
            <p:ph type="title"/>
          </p:nvPr>
        </p:nvSpPr>
        <p:spPr>
          <a:xfrm>
            <a:off x="457200" y="301200"/>
            <a:ext cx="82296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chemeClr val="dk1"/>
              </a:buClr>
              <a:buSzPts val="1100"/>
              <a:buFont typeface="Arial" panose="020B0604020202020204"/>
              <a:buNone/>
            </a:pPr>
            <a:r>
              <a:rPr lang="en-US" sz="3500"/>
              <a:t>Pipeline  Hazards</a:t>
            </a:r>
            <a:endParaRPr lang="en-US" sz="3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500"/>
              <a:t>Pipeline </a:t>
            </a:r>
            <a:r>
              <a:rPr lang="en-US" altLang="en-US" sz="3500">
                <a:sym typeface="+mn-ea"/>
              </a:rPr>
              <a:t>stall</a:t>
            </a:r>
            <a:r>
              <a:rPr lang="en-US" altLang="en-US" sz="3500">
                <a:latin typeface="Calibri" panose="020F0502020204030204" charset="0"/>
                <a:cs typeface="Calibri" panose="020F0502020204030204" charset="0"/>
                <a:sym typeface="+mn-ea"/>
              </a:rPr>
              <a:t> (</a:t>
            </a:r>
            <a:r>
              <a:rPr lang="en-US" altLang="en-US" sz="3500"/>
              <a:t>bubble</a:t>
            </a:r>
            <a:r>
              <a:rPr lang="en-US" altLang="en-US" sz="3500">
                <a:latin typeface="Calibri" panose="020F0502020204030204" charset="0"/>
                <a:cs typeface="Calibri" panose="020F0502020204030204" charset="0"/>
              </a:rPr>
              <a:t>)</a:t>
            </a:r>
            <a:endParaRPr lang="en-US" altLang="en-US" sz="3500">
              <a:latin typeface="Calibri" panose="020F0502020204030204" charset="0"/>
              <a:cs typeface="Calibri" panose="020F0502020204030204" charset="0"/>
            </a:endParaRPr>
          </a:p>
        </p:txBody>
      </p:sp>
      <p:sp>
        <p:nvSpPr>
          <p:cNvPr id="3" name="Text Box 2"/>
          <p:cNvSpPr txBox="1"/>
          <p:nvPr/>
        </p:nvSpPr>
        <p:spPr>
          <a:xfrm>
            <a:off x="535940" y="1133475"/>
            <a:ext cx="8150860" cy="3692525"/>
          </a:xfrm>
          <a:prstGeom prst="rect">
            <a:avLst/>
          </a:prstGeom>
          <a:noFill/>
        </p:spPr>
        <p:txBody>
          <a:bodyPr wrap="square" rtlCol="0">
            <a:spAutoFit/>
          </a:bodyPr>
          <a:p>
            <a:pPr algn="l">
              <a:buSzTx/>
            </a:pPr>
            <a:r>
              <a:rPr lang="en-US" altLang="en-US" sz="1800">
                <a:latin typeface="Calibri" panose="020F0502020204030204" charset="0"/>
                <a:cs typeface="Calibri" panose="020F0502020204030204" charset="0"/>
              </a:rPr>
              <a:t>A forced pause inside the pipeline.</a:t>
            </a: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rPr>
              <a:t>It happens when the CPU cannot safely move an instruction to the next stage, so it inserts an empty cycle to prevent errors.</a:t>
            </a: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rPr>
              <a:t>An instruction waits in the CPU, until whatever is blocking it is resolved.</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rPr>
              <a:t>The main causes of stalls are:</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b="1">
                <a:latin typeface="Calibri" panose="020F0502020204030204" charset="0"/>
                <a:cs typeface="Calibri" panose="020F0502020204030204" charset="0"/>
              </a:rPr>
              <a:t>Data hazards</a:t>
            </a:r>
            <a:r>
              <a:rPr lang="en-US" altLang="en-US" sz="1800">
                <a:latin typeface="Calibri" panose="020F0502020204030204" charset="0"/>
                <a:cs typeface="Calibri" panose="020F0502020204030204" charset="0"/>
              </a:rPr>
              <a:t> → an instruction needs a value that isn’t produced yet.</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b="1">
                <a:latin typeface="Calibri" panose="020F0502020204030204" charset="0"/>
                <a:cs typeface="Calibri" panose="020F0502020204030204" charset="0"/>
              </a:rPr>
              <a:t>Control hazards</a:t>
            </a:r>
            <a:r>
              <a:rPr lang="en-US" altLang="en-US" sz="1800">
                <a:latin typeface="Calibri" panose="020F0502020204030204" charset="0"/>
                <a:cs typeface="Calibri" panose="020F0502020204030204" charset="0"/>
              </a:rPr>
              <a:t> → branch decisions are uncertain or mispredicted.</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b="1">
                <a:latin typeface="Calibri" panose="020F0502020204030204" charset="0"/>
                <a:cs typeface="Calibri" panose="020F0502020204030204" charset="0"/>
              </a:rPr>
              <a:t>Resource hazards</a:t>
            </a:r>
            <a:r>
              <a:rPr lang="en-US" altLang="en-US" sz="1800">
                <a:latin typeface="Calibri" panose="020F0502020204030204" charset="0"/>
                <a:cs typeface="Calibri" panose="020F0502020204030204" charset="0"/>
              </a:rPr>
              <a:t> → two instructions need the same hardware at the same time.</a:t>
            </a:r>
            <a:endParaRPr lang="en-US" altLang="en-US" sz="1800">
              <a:latin typeface="Calibri" panose="020F0502020204030204" charset="0"/>
              <a:cs typeface="Calibri" panose="020F0502020204030204" charset="0"/>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16620" y="4688205"/>
            <a:ext cx="441325" cy="306705"/>
          </a:xfrm>
          <a:prstGeom prst="rect">
            <a:avLst/>
          </a:prstGeom>
          <a:noFill/>
        </p:spPr>
        <p:txBody>
          <a:bodyPr wrap="square" rtlCol="0">
            <a:spAutoFit/>
          </a:bodyPr>
          <a:p>
            <a:pPr algn="ctr"/>
            <a:r>
              <a:rPr lang="en-US"/>
              <a:t>12</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500">
                <a:sym typeface="+mn-ea"/>
              </a:rPr>
              <a:t>Pipeline </a:t>
            </a:r>
            <a:r>
              <a:rPr lang="en-US" altLang="en-US" sz="3500">
                <a:sym typeface="+mn-ea"/>
              </a:rPr>
              <a:t>stall</a:t>
            </a:r>
            <a:r>
              <a:rPr lang="en-US" altLang="en-US" sz="3500">
                <a:latin typeface="Calibri" panose="020F0502020204030204" charset="0"/>
                <a:cs typeface="Calibri" panose="020F0502020204030204" charset="0"/>
                <a:sym typeface="+mn-ea"/>
              </a:rPr>
              <a:t> (</a:t>
            </a:r>
            <a:r>
              <a:rPr lang="en-US" altLang="en-US" sz="3500">
                <a:sym typeface="+mn-ea"/>
              </a:rPr>
              <a:t>bubble</a:t>
            </a:r>
            <a:r>
              <a:rPr lang="en-US" altLang="en-US" sz="3500">
                <a:latin typeface="Calibri" panose="020F0502020204030204" charset="0"/>
                <a:cs typeface="Calibri" panose="020F0502020204030204" charset="0"/>
                <a:sym typeface="+mn-ea"/>
              </a:rPr>
              <a:t>)</a:t>
            </a:r>
            <a:endParaRPr lang="en-US" sz="3500"/>
          </a:p>
        </p:txBody>
      </p:sp>
      <p:sp>
        <p:nvSpPr>
          <p:cNvPr id="3" name="Text Box 2"/>
          <p:cNvSpPr txBox="1"/>
          <p:nvPr/>
        </p:nvSpPr>
        <p:spPr>
          <a:xfrm>
            <a:off x="755650" y="1374775"/>
            <a:ext cx="7433310" cy="2861310"/>
          </a:xfrm>
          <a:prstGeom prst="rect">
            <a:avLst/>
          </a:prstGeom>
        </p:spPr>
        <p:txBody>
          <a:bodyPr wrap="square">
            <a:spAutoFit/>
          </a:bodyPr>
          <a:p>
            <a:pPr algn="l">
              <a:buSzTx/>
            </a:pPr>
            <a:r>
              <a:rPr lang="en-US" altLang="en-US" sz="1800">
                <a:latin typeface="Calibri" panose="020F0502020204030204" charset="0"/>
                <a:cs typeface="Calibri" panose="020F0502020204030204" charset="0"/>
              </a:rPr>
              <a:t>A stall creates a “bubble” in the pipeline, meaning one stage does no useful work during that cycle.</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rPr>
              <a:t>Modern CPUs use techniques like data forwarding, branch prediction, and extra hardware units to reduce the number of stalls, but they cannot eliminate them completely.</a:t>
            </a:r>
            <a:endParaRPr lang="en-US" altLang="en-US" sz="1800">
              <a:latin typeface="Calibri" panose="020F0502020204030204" charset="0"/>
              <a:cs typeface="Calibri" panose="020F0502020204030204" charset="0"/>
            </a:endParaRPr>
          </a:p>
          <a:p>
            <a:pPr algn="l">
              <a:buSzTx/>
            </a:pPr>
            <a:endParaRPr lang="en-US" altLang="en-US" sz="1800">
              <a:latin typeface="Calibri" panose="020F0502020204030204" charset="0"/>
              <a:cs typeface="Calibri" panose="020F0502020204030204" charset="0"/>
            </a:endParaRPr>
          </a:p>
          <a:p>
            <a:pPr algn="l">
              <a:buSzTx/>
            </a:pPr>
            <a:r>
              <a:rPr lang="en-US" altLang="en-US" sz="1800">
                <a:latin typeface="Calibri" panose="020F0502020204030204" charset="0"/>
                <a:cs typeface="Calibri" panose="020F0502020204030204" charset="0"/>
                <a:sym typeface="+mn-ea"/>
              </a:rPr>
              <a:t>Stalls reduce pipeline efficiency, increasing CPI (cycles per instruction) and lowering throughput.</a:t>
            </a:r>
            <a:endParaRPr lang="en-US" altLang="en-US" sz="1800">
              <a:latin typeface="Calibri" panose="020F0502020204030204" charset="0"/>
              <a:cs typeface="Calibri" panose="020F0502020204030204" charset="0"/>
            </a:endParaRPr>
          </a:p>
          <a:p>
            <a:endParaRPr lang="en-US" altLang="zh-CN" sz="1800"/>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16620" y="4688205"/>
            <a:ext cx="441325" cy="306705"/>
          </a:xfrm>
          <a:prstGeom prst="rect">
            <a:avLst/>
          </a:prstGeom>
          <a:noFill/>
        </p:spPr>
        <p:txBody>
          <a:bodyPr wrap="square" rtlCol="0">
            <a:spAutoFit/>
          </a:bodyPr>
          <a:p>
            <a:pPr algn="ctr"/>
            <a:r>
              <a:rPr lang="en-US"/>
              <a:t>13</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08185"/>
            <a:ext cx="8229600" cy="572700"/>
          </a:xfrm>
        </p:spPr>
        <p:txBody>
          <a:bodyPr/>
          <a:p>
            <a:r>
              <a:rPr lang="en-US" altLang="en-US" sz="3500"/>
              <a:t>Hazard Resolution Techniques</a:t>
            </a:r>
            <a:endParaRPr lang="en-US" altLang="en-US" sz="3500"/>
          </a:p>
        </p:txBody>
      </p:sp>
      <p:sp>
        <p:nvSpPr>
          <p:cNvPr id="3" name="Text Box 2"/>
          <p:cNvSpPr txBox="1"/>
          <p:nvPr/>
        </p:nvSpPr>
        <p:spPr>
          <a:xfrm>
            <a:off x="504825" y="1260475"/>
            <a:ext cx="7583170" cy="3692525"/>
          </a:xfrm>
          <a:prstGeom prst="rect">
            <a:avLst/>
          </a:prstGeom>
        </p:spPr>
        <p:txBody>
          <a:bodyPr wrap="square">
            <a:spAutoFit/>
          </a:bodyPr>
          <a:p>
            <a:pPr algn="l">
              <a:buSzTx/>
              <a:buNone/>
            </a:pPr>
            <a:r>
              <a:rPr lang="en-US" altLang="en-US" sz="1800">
                <a:latin typeface="Calibri" panose="020F0502020204030204" charset="0"/>
                <a:cs typeface="Calibri" panose="020F0502020204030204" charset="0"/>
              </a:rPr>
              <a:t>Hazard resolution techniques are methods used by the CPU to reduce or eliminate pipeline stalls caused by data, control, or resource hazards. The main techniques include:</a:t>
            </a:r>
            <a:endParaRPr lang="en-US" altLang="en-US" sz="1800">
              <a:latin typeface="Calibri" panose="020F0502020204030204" charset="0"/>
              <a:cs typeface="Calibri" panose="020F0502020204030204" charset="0"/>
            </a:endParaRPr>
          </a:p>
          <a:p>
            <a:pPr algn="l">
              <a:buSzTx/>
              <a:buNone/>
            </a:pPr>
            <a:endParaRPr lang="en-US" altLang="en-US" sz="1800">
              <a:latin typeface="Calibri" panose="020F0502020204030204" charset="0"/>
              <a:cs typeface="Calibri" panose="020F0502020204030204" charset="0"/>
            </a:endParaRPr>
          </a:p>
          <a:p>
            <a:pPr algn="l">
              <a:buSzTx/>
              <a:buNone/>
            </a:pPr>
            <a:r>
              <a:rPr lang="en-US" altLang="en-US" sz="1800" b="1">
                <a:latin typeface="Calibri" panose="020F0502020204030204" charset="0"/>
                <a:cs typeface="Calibri" panose="020F0502020204030204" charset="0"/>
              </a:rPr>
              <a:t>Forwarding (Bypassing):</a:t>
            </a:r>
            <a:endParaRPr lang="en-US" altLang="en-US" sz="1800" b="1">
              <a:latin typeface="Calibri" panose="020F0502020204030204" charset="0"/>
              <a:cs typeface="Calibri" panose="020F0502020204030204" charset="0"/>
            </a:endParaRPr>
          </a:p>
          <a:p>
            <a:pPr algn="l">
              <a:buSzTx/>
              <a:buNone/>
            </a:pPr>
            <a:r>
              <a:rPr lang="en-US" altLang="en-US" sz="1800">
                <a:latin typeface="Calibri" panose="020F0502020204030204" charset="0"/>
                <a:cs typeface="Calibri" panose="020F0502020204030204" charset="0"/>
              </a:rPr>
              <a:t>Sends results directly from one pipeline stage to another without waiting for the write-back stage, reducing data hazards.</a:t>
            </a:r>
            <a:endParaRPr lang="en-US" altLang="en-US" sz="1800">
              <a:latin typeface="Calibri" panose="020F0502020204030204" charset="0"/>
              <a:cs typeface="Calibri" panose="020F0502020204030204" charset="0"/>
            </a:endParaRPr>
          </a:p>
          <a:p>
            <a:pPr algn="l">
              <a:buSzTx/>
              <a:buNone/>
            </a:pPr>
            <a:endParaRPr lang="en-US" altLang="en-US" sz="1800">
              <a:latin typeface="Calibri" panose="020F0502020204030204" charset="0"/>
              <a:cs typeface="Calibri" panose="020F0502020204030204" charset="0"/>
            </a:endParaRPr>
          </a:p>
          <a:p>
            <a:pPr algn="l">
              <a:buSzTx/>
              <a:buNone/>
            </a:pPr>
            <a:r>
              <a:rPr lang="en-US" altLang="en-US" sz="1800" b="1">
                <a:latin typeface="Calibri" panose="020F0502020204030204" charset="0"/>
                <a:cs typeface="Calibri" panose="020F0502020204030204" charset="0"/>
              </a:rPr>
              <a:t>Stalling</a:t>
            </a:r>
            <a:r>
              <a:rPr lang="en-US" altLang="en-US" sz="1800">
                <a:latin typeface="Calibri" panose="020F0502020204030204" charset="0"/>
                <a:cs typeface="Calibri" panose="020F0502020204030204" charset="0"/>
              </a:rPr>
              <a:t>: </a:t>
            </a:r>
            <a:endParaRPr lang="en-US" altLang="en-US" sz="1800">
              <a:latin typeface="Calibri" panose="020F0502020204030204" charset="0"/>
              <a:cs typeface="Calibri" panose="020F0502020204030204" charset="0"/>
            </a:endParaRPr>
          </a:p>
          <a:p>
            <a:pPr algn="l">
              <a:buSzTx/>
              <a:buNone/>
            </a:pPr>
            <a:r>
              <a:rPr lang="en-US" altLang="en-US" sz="1800">
                <a:latin typeface="Calibri" panose="020F0502020204030204" charset="0"/>
                <a:cs typeface="Calibri" panose="020F0502020204030204" charset="0"/>
              </a:rPr>
              <a:t>Temporarily pauses the pipeline to wait for needed data or resources when no faster solution is possible.</a:t>
            </a:r>
            <a:endParaRPr lang="en-US" altLang="en-US" sz="1800">
              <a:latin typeface="Calibri" panose="020F0502020204030204" charset="0"/>
              <a:cs typeface="Calibri" panose="020F0502020204030204" charset="0"/>
            </a:endParaRPr>
          </a:p>
          <a:p>
            <a:pPr algn="l">
              <a:buSzTx/>
              <a:buNone/>
            </a:pPr>
            <a:endParaRPr lang="en-US" altLang="en-US" sz="1800">
              <a:latin typeface="Calibri" panose="020F0502020204030204" charset="0"/>
              <a:cs typeface="Calibri" panose="020F0502020204030204" charset="0"/>
            </a:endParaRPr>
          </a:p>
          <a:p>
            <a:pPr algn="l">
              <a:buSzTx/>
              <a:buNone/>
            </a:pPr>
            <a:endParaRPr lang="en-US" altLang="en-US" sz="1800"/>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16620" y="4688205"/>
            <a:ext cx="441325" cy="306705"/>
          </a:xfrm>
          <a:prstGeom prst="rect">
            <a:avLst/>
          </a:prstGeom>
          <a:noFill/>
        </p:spPr>
        <p:txBody>
          <a:bodyPr wrap="square" rtlCol="0">
            <a:spAutoFit/>
          </a:bodyPr>
          <a:p>
            <a:pPr algn="ctr"/>
            <a:r>
              <a:rPr lang="en-US"/>
              <a:t>14</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68960" y="757555"/>
            <a:ext cx="8227060" cy="3969385"/>
          </a:xfrm>
          <a:prstGeom prst="rect">
            <a:avLst/>
          </a:prstGeom>
          <a:noFill/>
        </p:spPr>
        <p:txBody>
          <a:bodyPr wrap="square" rtlCol="0" anchor="t">
            <a:spAutoFit/>
          </a:bodyPr>
          <a:p>
            <a:pPr algn="l">
              <a:buSzTx/>
              <a:buNone/>
            </a:pPr>
            <a:r>
              <a:rPr lang="en-US" altLang="en-US" sz="1800" b="1">
                <a:latin typeface="Calibri" panose="020F0502020204030204" charset="0"/>
                <a:cs typeface="Calibri" panose="020F0502020204030204" charset="0"/>
                <a:sym typeface="+mn-ea"/>
              </a:rPr>
              <a:t>Branch Prediction: </a:t>
            </a:r>
            <a:endParaRPr lang="en-US" altLang="en-US" sz="1800" b="1">
              <a:latin typeface="Calibri" panose="020F0502020204030204" charset="0"/>
              <a:cs typeface="Calibri" panose="020F0502020204030204" charset="0"/>
            </a:endParaRPr>
          </a:p>
          <a:p>
            <a:pPr algn="l">
              <a:buSzTx/>
              <a:buNone/>
            </a:pPr>
            <a:r>
              <a:rPr lang="en-US" altLang="en-US" sz="1800">
                <a:latin typeface="Calibri" panose="020F0502020204030204" charset="0"/>
                <a:cs typeface="Calibri" panose="020F0502020204030204" charset="0"/>
                <a:sym typeface="+mn-ea"/>
              </a:rPr>
              <a:t>Predicts the outcome of branch instructions to avoid control hazards and minimize pipeline flushing.</a:t>
            </a:r>
            <a:endParaRPr lang="en-US" altLang="en-US" sz="1800">
              <a:latin typeface="Calibri" panose="020F0502020204030204" charset="0"/>
              <a:cs typeface="Calibri" panose="020F0502020204030204" charset="0"/>
              <a:sym typeface="+mn-ea"/>
            </a:endParaRPr>
          </a:p>
          <a:p>
            <a:pPr algn="l">
              <a:buSzTx/>
              <a:buNone/>
            </a:pPr>
            <a:endParaRPr lang="en-US" altLang="en-US" sz="1800">
              <a:sym typeface="+mn-ea"/>
            </a:endParaRPr>
          </a:p>
          <a:p>
            <a:r>
              <a:rPr lang="en-US" altLang="en-US" sz="1800" b="1">
                <a:latin typeface="Calibri" panose="020F0502020204030204" charset="0"/>
                <a:cs typeface="Calibri" panose="020F0502020204030204" charset="0"/>
                <a:sym typeface="+mn-ea"/>
              </a:rPr>
              <a:t>Speculative Execution:</a:t>
            </a:r>
            <a:endParaRPr lang="en-US" altLang="en-US" sz="1800" b="1">
              <a:sym typeface="+mn-ea"/>
            </a:endParaRPr>
          </a:p>
          <a:p>
            <a:r>
              <a:rPr lang="en-US" altLang="en-US" sz="1800">
                <a:latin typeface="Calibri" panose="020F0502020204030204" charset="0"/>
                <a:cs typeface="Calibri" panose="020F0502020204030204" charset="0"/>
                <a:sym typeface="+mn-ea"/>
              </a:rPr>
              <a:t>Executes instructions ahead of time based on predictions to hide delays</a:t>
            </a:r>
            <a:r>
              <a:rPr lang="en-US" altLang="en-US" sz="1800">
                <a:sym typeface="+mn-ea"/>
              </a:rPr>
              <a:t>.</a:t>
            </a:r>
            <a:endParaRPr lang="en-US" altLang="en-US" sz="1800"/>
          </a:p>
          <a:p>
            <a:endParaRPr lang="en-US" altLang="en-US" sz="1800"/>
          </a:p>
          <a:p>
            <a:r>
              <a:rPr lang="en-US" altLang="en-US" sz="1800" b="1">
                <a:latin typeface="Calibri" panose="020F0502020204030204" charset="0"/>
                <a:cs typeface="Calibri" panose="020F0502020204030204" charset="0"/>
                <a:sym typeface="+mn-ea"/>
              </a:rPr>
              <a:t>Out-of-Order Execution:</a:t>
            </a:r>
            <a:endParaRPr lang="en-US" altLang="en-US" sz="1800" b="1">
              <a:latin typeface="Calibri" panose="020F0502020204030204" charset="0"/>
              <a:cs typeface="Calibri" panose="020F0502020204030204" charset="0"/>
              <a:sym typeface="+mn-ea"/>
            </a:endParaRPr>
          </a:p>
          <a:p>
            <a:r>
              <a:rPr lang="en-US" altLang="en-US" sz="1800">
                <a:latin typeface="Calibri" panose="020F0502020204030204" charset="0"/>
                <a:cs typeface="Calibri" panose="020F0502020204030204" charset="0"/>
                <a:sym typeface="+mn-ea"/>
              </a:rPr>
              <a:t>Allows instructions that aren’t affected by hazards to execute early, improving overall performance.</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b="1">
                <a:latin typeface="Calibri" panose="020F0502020204030204" charset="0"/>
                <a:cs typeface="Calibri" panose="020F0502020204030204" charset="0"/>
                <a:sym typeface="+mn-ea"/>
              </a:rPr>
              <a:t>Multiple Hardware Units: </a:t>
            </a:r>
            <a:endParaRPr lang="en-US" altLang="en-US" sz="1800" b="1">
              <a:latin typeface="Calibri" panose="020F0502020204030204" charset="0"/>
              <a:cs typeface="Calibri" panose="020F0502020204030204" charset="0"/>
              <a:sym typeface="+mn-ea"/>
            </a:endParaRPr>
          </a:p>
          <a:p>
            <a:pPr algn="l">
              <a:buSzTx/>
              <a:buNone/>
            </a:pPr>
            <a:r>
              <a:rPr lang="en-US" altLang="en-US" sz="1800">
                <a:latin typeface="Calibri" panose="020F0502020204030204" charset="0"/>
                <a:cs typeface="Calibri" panose="020F0502020204030204" charset="0"/>
                <a:sym typeface="+mn-ea"/>
              </a:rPr>
              <a:t>Adds extra resources (e.g., separate memory paths or extra ALUs) to reduce structural hazards.</a:t>
            </a:r>
            <a:endParaRPr lang="en-US" altLang="en-US" sz="1800">
              <a:latin typeface="Calibri" panose="020F0502020204030204" charset="0"/>
              <a:cs typeface="Calibri" panose="020F0502020204030204" charset="0"/>
              <a:sym typeface="+mn-ea"/>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16620" y="4688205"/>
            <a:ext cx="441325" cy="306705"/>
          </a:xfrm>
          <a:prstGeom prst="rect">
            <a:avLst/>
          </a:prstGeom>
          <a:noFill/>
        </p:spPr>
        <p:txBody>
          <a:bodyPr wrap="square" rtlCol="0">
            <a:spAutoFit/>
          </a:bodyPr>
          <a:p>
            <a:pPr algn="ctr"/>
            <a:r>
              <a:rPr lang="en-US"/>
              <a:t>15</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500">
                <a:sym typeface="+mn-ea"/>
              </a:rPr>
              <a:t>conclusion</a:t>
            </a:r>
            <a:endParaRPr lang="en-US" sz="3500"/>
          </a:p>
        </p:txBody>
      </p:sp>
      <p:sp>
        <p:nvSpPr>
          <p:cNvPr id="3" name="Text Box 2"/>
          <p:cNvSpPr txBox="1"/>
          <p:nvPr/>
        </p:nvSpPr>
        <p:spPr>
          <a:xfrm>
            <a:off x="851535" y="1295400"/>
            <a:ext cx="6654800" cy="3138170"/>
          </a:xfrm>
          <a:prstGeom prst="rect">
            <a:avLst/>
          </a:prstGeom>
        </p:spPr>
        <p:txBody>
          <a:bodyPr wrap="square">
            <a:spAutoFit/>
          </a:bodyPr>
          <a:p>
            <a:r>
              <a:rPr lang="en-US" altLang="en-US" sz="1800">
                <a:latin typeface="Calibri" panose="020F0502020204030204" charset="0"/>
                <a:cs typeface="Calibri" panose="020F0502020204030204" charset="0"/>
              </a:rPr>
              <a:t>In summary, pipelining offers a powerful way to improve CPU performance by allowing multiple instructions to overlap in execution. </a:t>
            </a: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However, its efficiency is naturally limited by several challenges, including resource conflicts, data dependencies, and the uncertainty caused by branches and interrupts. Understanding these hazards and how they affect instruction flow is essential to appreciating both the strengths and limitations of the pipeline model.</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Despite these issues, pipelining remains a fundamental technique in modern processor design, enabling higher throughput and more effective use of hardware resources.</a:t>
            </a:r>
            <a:endParaRPr lang="en-US" altLang="en-US" sz="1800">
              <a:latin typeface="Calibri" panose="020F0502020204030204" charset="0"/>
              <a:cs typeface="Calibri" panose="020F0502020204030204" charset="0"/>
            </a:endParaRPr>
          </a:p>
        </p:txBody>
      </p:sp>
      <p:grpSp>
        <p:nvGrpSpPr>
          <p:cNvPr id="10" name="Google Shape;112;p16"/>
          <p:cNvGrpSpPr/>
          <p:nvPr/>
        </p:nvGrpSpPr>
        <p:grpSpPr>
          <a:xfrm>
            <a:off x="8448862" y="4623057"/>
            <a:ext cx="598619" cy="427610"/>
            <a:chOff x="5960837" y="2432603"/>
            <a:chExt cx="1149383" cy="696887"/>
          </a:xfrm>
        </p:grpSpPr>
        <p:sp>
          <p:nvSpPr>
            <p:cNvPr id="11" name="Google Shape;113;p16"/>
            <p:cNvSpPr/>
            <p:nvPr/>
          </p:nvSpPr>
          <p:spPr>
            <a:xfrm>
              <a:off x="5977562" y="2432603"/>
              <a:ext cx="1091105" cy="695559"/>
            </a:xfrm>
            <a:custGeom>
              <a:avLst/>
              <a:gdLst/>
              <a:ahLst/>
              <a:cxnLst/>
              <a:rect l="l" t="t" r="r" b="b"/>
              <a:pathLst>
                <a:path w="48472" h="30900" extrusionOk="0">
                  <a:moveTo>
                    <a:pt x="27985" y="0"/>
                  </a:moveTo>
                  <a:cubicBezTo>
                    <a:pt x="24718" y="0"/>
                    <a:pt x="21478" y="2184"/>
                    <a:pt x="20413" y="5290"/>
                  </a:cubicBezTo>
                  <a:cubicBezTo>
                    <a:pt x="18763" y="3365"/>
                    <a:pt x="16295" y="1993"/>
                    <a:pt x="13827" y="1993"/>
                  </a:cubicBezTo>
                  <a:cubicBezTo>
                    <a:pt x="13227" y="1993"/>
                    <a:pt x="12627" y="2074"/>
                    <a:pt x="12040" y="2248"/>
                  </a:cubicBezTo>
                  <a:cubicBezTo>
                    <a:pt x="8998" y="3137"/>
                    <a:pt x="7016" y="7067"/>
                    <a:pt x="8759" y="9698"/>
                  </a:cubicBezTo>
                  <a:cubicBezTo>
                    <a:pt x="7901" y="9292"/>
                    <a:pt x="7017" y="9104"/>
                    <a:pt x="6155" y="9104"/>
                  </a:cubicBezTo>
                  <a:cubicBezTo>
                    <a:pt x="3034" y="9104"/>
                    <a:pt x="219" y="11567"/>
                    <a:pt x="112" y="14996"/>
                  </a:cubicBezTo>
                  <a:cubicBezTo>
                    <a:pt x="1" y="18554"/>
                    <a:pt x="2897" y="21254"/>
                    <a:pt x="6171" y="21254"/>
                  </a:cubicBezTo>
                  <a:cubicBezTo>
                    <a:pt x="6922" y="21254"/>
                    <a:pt x="7692" y="21112"/>
                    <a:pt x="8451" y="20806"/>
                  </a:cubicBezTo>
                  <a:lnTo>
                    <a:pt x="8451" y="20806"/>
                  </a:lnTo>
                  <a:cubicBezTo>
                    <a:pt x="8212" y="24975"/>
                    <a:pt x="10741" y="29384"/>
                    <a:pt x="14774" y="30614"/>
                  </a:cubicBezTo>
                  <a:cubicBezTo>
                    <a:pt x="15408" y="30808"/>
                    <a:pt x="16064" y="30899"/>
                    <a:pt x="16721" y="30899"/>
                  </a:cubicBezTo>
                  <a:cubicBezTo>
                    <a:pt x="20241" y="30899"/>
                    <a:pt x="23782" y="28279"/>
                    <a:pt x="24070" y="24736"/>
                  </a:cubicBezTo>
                  <a:cubicBezTo>
                    <a:pt x="25505" y="27163"/>
                    <a:pt x="27897" y="29111"/>
                    <a:pt x="30666" y="29658"/>
                  </a:cubicBezTo>
                  <a:cubicBezTo>
                    <a:pt x="31167" y="29757"/>
                    <a:pt x="31679" y="29805"/>
                    <a:pt x="32193" y="29805"/>
                  </a:cubicBezTo>
                  <a:cubicBezTo>
                    <a:pt x="34514" y="29805"/>
                    <a:pt x="36853" y="28811"/>
                    <a:pt x="38253" y="26992"/>
                  </a:cubicBezTo>
                  <a:cubicBezTo>
                    <a:pt x="40133" y="24599"/>
                    <a:pt x="39859" y="21558"/>
                    <a:pt x="38253" y="19131"/>
                  </a:cubicBezTo>
                  <a:lnTo>
                    <a:pt x="38253" y="19131"/>
                  </a:lnTo>
                  <a:cubicBezTo>
                    <a:pt x="39869" y="19365"/>
                    <a:pt x="41421" y="20049"/>
                    <a:pt x="43008" y="20049"/>
                  </a:cubicBezTo>
                  <a:cubicBezTo>
                    <a:pt x="43736" y="20049"/>
                    <a:pt x="44472" y="19905"/>
                    <a:pt x="45225" y="19507"/>
                  </a:cubicBezTo>
                  <a:cubicBezTo>
                    <a:pt x="46353" y="18858"/>
                    <a:pt x="47241" y="17798"/>
                    <a:pt x="47651" y="16534"/>
                  </a:cubicBezTo>
                  <a:cubicBezTo>
                    <a:pt x="48472" y="14449"/>
                    <a:pt x="48267" y="12125"/>
                    <a:pt x="47139" y="10211"/>
                  </a:cubicBezTo>
                  <a:cubicBezTo>
                    <a:pt x="46100" y="8559"/>
                    <a:pt x="44000" y="7934"/>
                    <a:pt x="41808" y="7934"/>
                  </a:cubicBezTo>
                  <a:cubicBezTo>
                    <a:pt x="39601" y="7934"/>
                    <a:pt x="37301" y="8568"/>
                    <a:pt x="35895" y="9425"/>
                  </a:cubicBezTo>
                  <a:cubicBezTo>
                    <a:pt x="36202" y="9186"/>
                    <a:pt x="36271" y="8707"/>
                    <a:pt x="36168" y="8092"/>
                  </a:cubicBezTo>
                  <a:cubicBezTo>
                    <a:pt x="35826" y="6588"/>
                    <a:pt x="35245" y="5119"/>
                    <a:pt x="34425" y="3786"/>
                  </a:cubicBezTo>
                  <a:cubicBezTo>
                    <a:pt x="33195" y="2077"/>
                    <a:pt x="31588" y="608"/>
                    <a:pt x="29504" y="163"/>
                  </a:cubicBezTo>
                  <a:cubicBezTo>
                    <a:pt x="29002" y="53"/>
                    <a:pt x="28494" y="0"/>
                    <a:pt x="27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14;p16"/>
            <p:cNvSpPr/>
            <p:nvPr/>
          </p:nvSpPr>
          <p:spPr>
            <a:xfrm>
              <a:off x="5980849" y="2777074"/>
              <a:ext cx="1067042" cy="351088"/>
            </a:xfrm>
            <a:custGeom>
              <a:avLst/>
              <a:gdLst/>
              <a:ahLst/>
              <a:cxnLst/>
              <a:rect l="l" t="t" r="r" b="b"/>
              <a:pathLst>
                <a:path w="47403" h="15597" extrusionOk="0">
                  <a:moveTo>
                    <a:pt x="0" y="0"/>
                  </a:moveTo>
                  <a:lnTo>
                    <a:pt x="0" y="0"/>
                  </a:lnTo>
                  <a:cubicBezTo>
                    <a:pt x="34" y="1231"/>
                    <a:pt x="410" y="2427"/>
                    <a:pt x="1128" y="3452"/>
                  </a:cubicBezTo>
                  <a:cubicBezTo>
                    <a:pt x="2328" y="5020"/>
                    <a:pt x="4177" y="5885"/>
                    <a:pt x="6072" y="5885"/>
                  </a:cubicBezTo>
                  <a:cubicBezTo>
                    <a:pt x="6822" y="5885"/>
                    <a:pt x="7578" y="5750"/>
                    <a:pt x="8305" y="5469"/>
                  </a:cubicBezTo>
                  <a:lnTo>
                    <a:pt x="8305" y="5469"/>
                  </a:lnTo>
                  <a:cubicBezTo>
                    <a:pt x="8066" y="9672"/>
                    <a:pt x="10595" y="14081"/>
                    <a:pt x="14628" y="15311"/>
                  </a:cubicBezTo>
                  <a:cubicBezTo>
                    <a:pt x="15262" y="15505"/>
                    <a:pt x="15918" y="15596"/>
                    <a:pt x="16575" y="15596"/>
                  </a:cubicBezTo>
                  <a:cubicBezTo>
                    <a:pt x="20095" y="15596"/>
                    <a:pt x="23636" y="12976"/>
                    <a:pt x="23924" y="9433"/>
                  </a:cubicBezTo>
                  <a:cubicBezTo>
                    <a:pt x="25359" y="11860"/>
                    <a:pt x="27751" y="13774"/>
                    <a:pt x="30520" y="14355"/>
                  </a:cubicBezTo>
                  <a:cubicBezTo>
                    <a:pt x="31021" y="14454"/>
                    <a:pt x="31533" y="14502"/>
                    <a:pt x="32047" y="14502"/>
                  </a:cubicBezTo>
                  <a:cubicBezTo>
                    <a:pt x="34368" y="14502"/>
                    <a:pt x="36707" y="13508"/>
                    <a:pt x="38107" y="11689"/>
                  </a:cubicBezTo>
                  <a:cubicBezTo>
                    <a:pt x="39987" y="9296"/>
                    <a:pt x="39713" y="6255"/>
                    <a:pt x="38107" y="3828"/>
                  </a:cubicBezTo>
                  <a:lnTo>
                    <a:pt x="38107" y="3828"/>
                  </a:lnTo>
                  <a:cubicBezTo>
                    <a:pt x="39723" y="4062"/>
                    <a:pt x="41275" y="4746"/>
                    <a:pt x="42862" y="4746"/>
                  </a:cubicBezTo>
                  <a:cubicBezTo>
                    <a:pt x="43590" y="4746"/>
                    <a:pt x="44326" y="4602"/>
                    <a:pt x="45079" y="4204"/>
                  </a:cubicBezTo>
                  <a:cubicBezTo>
                    <a:pt x="46138" y="3589"/>
                    <a:pt x="46924" y="2666"/>
                    <a:pt x="47403" y="1538"/>
                  </a:cubicBezTo>
                  <a:lnTo>
                    <a:pt x="47403" y="1538"/>
                  </a:lnTo>
                  <a:cubicBezTo>
                    <a:pt x="46343" y="1778"/>
                    <a:pt x="45284" y="1983"/>
                    <a:pt x="44190" y="2085"/>
                  </a:cubicBezTo>
                  <a:cubicBezTo>
                    <a:pt x="43694" y="2129"/>
                    <a:pt x="43195" y="2152"/>
                    <a:pt x="42695" y="2152"/>
                  </a:cubicBezTo>
                  <a:cubicBezTo>
                    <a:pt x="40094" y="2152"/>
                    <a:pt x="37483" y="1536"/>
                    <a:pt x="35304" y="103"/>
                  </a:cubicBezTo>
                  <a:lnTo>
                    <a:pt x="35304" y="103"/>
                  </a:lnTo>
                  <a:cubicBezTo>
                    <a:pt x="35509" y="2154"/>
                    <a:pt x="35168" y="4238"/>
                    <a:pt x="34313" y="6118"/>
                  </a:cubicBezTo>
                  <a:cubicBezTo>
                    <a:pt x="33698" y="7519"/>
                    <a:pt x="32673" y="8886"/>
                    <a:pt x="31237" y="9296"/>
                  </a:cubicBezTo>
                  <a:cubicBezTo>
                    <a:pt x="30942" y="9379"/>
                    <a:pt x="30641" y="9417"/>
                    <a:pt x="30337" y="9417"/>
                  </a:cubicBezTo>
                  <a:cubicBezTo>
                    <a:pt x="29130" y="9417"/>
                    <a:pt x="27901" y="8810"/>
                    <a:pt x="27000" y="7964"/>
                  </a:cubicBezTo>
                  <a:cubicBezTo>
                    <a:pt x="25872" y="6904"/>
                    <a:pt x="25154" y="5503"/>
                    <a:pt x="24470" y="4136"/>
                  </a:cubicBezTo>
                  <a:cubicBezTo>
                    <a:pt x="24095" y="5879"/>
                    <a:pt x="23719" y="7690"/>
                    <a:pt x="22591" y="9091"/>
                  </a:cubicBezTo>
                  <a:cubicBezTo>
                    <a:pt x="21820" y="10025"/>
                    <a:pt x="20587" y="10672"/>
                    <a:pt x="19403" y="10672"/>
                  </a:cubicBezTo>
                  <a:cubicBezTo>
                    <a:pt x="18855" y="10672"/>
                    <a:pt x="18317" y="10533"/>
                    <a:pt x="17840" y="10219"/>
                  </a:cubicBezTo>
                  <a:cubicBezTo>
                    <a:pt x="16644" y="9433"/>
                    <a:pt x="16234" y="7827"/>
                    <a:pt x="16200" y="6391"/>
                  </a:cubicBezTo>
                  <a:cubicBezTo>
                    <a:pt x="16200" y="4956"/>
                    <a:pt x="16405" y="3486"/>
                    <a:pt x="16063" y="2085"/>
                  </a:cubicBezTo>
                  <a:cubicBezTo>
                    <a:pt x="13873" y="3108"/>
                    <a:pt x="11513" y="3622"/>
                    <a:pt x="9152" y="3622"/>
                  </a:cubicBezTo>
                  <a:cubicBezTo>
                    <a:pt x="7018" y="3622"/>
                    <a:pt x="4883" y="3202"/>
                    <a:pt x="2871" y="2359"/>
                  </a:cubicBezTo>
                  <a:cubicBezTo>
                    <a:pt x="1504" y="1778"/>
                    <a:pt x="820" y="889"/>
                    <a:pt x="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15;p16"/>
            <p:cNvSpPr/>
            <p:nvPr/>
          </p:nvSpPr>
          <p:spPr>
            <a:xfrm>
              <a:off x="5960837" y="2447662"/>
              <a:ext cx="1149383" cy="681828"/>
            </a:xfrm>
            <a:custGeom>
              <a:avLst/>
              <a:gdLst/>
              <a:ahLst/>
              <a:cxnLst/>
              <a:rect l="l" t="t" r="r" b="b"/>
              <a:pathLst>
                <a:path w="51061" h="30290" extrusionOk="0">
                  <a:moveTo>
                    <a:pt x="29647" y="888"/>
                  </a:moveTo>
                  <a:cubicBezTo>
                    <a:pt x="32140" y="888"/>
                    <a:pt x="34404" y="2601"/>
                    <a:pt x="35442" y="4860"/>
                  </a:cubicBezTo>
                  <a:cubicBezTo>
                    <a:pt x="36125" y="6364"/>
                    <a:pt x="36330" y="8038"/>
                    <a:pt x="36057" y="9645"/>
                  </a:cubicBezTo>
                  <a:cubicBezTo>
                    <a:pt x="35983" y="9988"/>
                    <a:pt x="36244" y="10261"/>
                    <a:pt x="36537" y="10261"/>
                  </a:cubicBezTo>
                  <a:cubicBezTo>
                    <a:pt x="36652" y="10261"/>
                    <a:pt x="36771" y="10219"/>
                    <a:pt x="36877" y="10123"/>
                  </a:cubicBezTo>
                  <a:cubicBezTo>
                    <a:pt x="38415" y="8585"/>
                    <a:pt x="40295" y="7321"/>
                    <a:pt x="42482" y="6945"/>
                  </a:cubicBezTo>
                  <a:cubicBezTo>
                    <a:pt x="42841" y="6879"/>
                    <a:pt x="43203" y="6847"/>
                    <a:pt x="43563" y="6847"/>
                  </a:cubicBezTo>
                  <a:cubicBezTo>
                    <a:pt x="45089" y="6847"/>
                    <a:pt x="46566" y="7437"/>
                    <a:pt x="47506" y="8654"/>
                  </a:cubicBezTo>
                  <a:cubicBezTo>
                    <a:pt x="48531" y="10055"/>
                    <a:pt x="48907" y="11798"/>
                    <a:pt x="48565" y="13472"/>
                  </a:cubicBezTo>
                  <a:cubicBezTo>
                    <a:pt x="48155" y="15250"/>
                    <a:pt x="46959" y="16719"/>
                    <a:pt x="45319" y="17505"/>
                  </a:cubicBezTo>
                  <a:cubicBezTo>
                    <a:pt x="44278" y="17998"/>
                    <a:pt x="43149" y="18247"/>
                    <a:pt x="42021" y="18247"/>
                  </a:cubicBezTo>
                  <a:cubicBezTo>
                    <a:pt x="41038" y="18247"/>
                    <a:pt x="40056" y="18058"/>
                    <a:pt x="39133" y="17676"/>
                  </a:cubicBezTo>
                  <a:cubicBezTo>
                    <a:pt x="39051" y="17632"/>
                    <a:pt x="38968" y="17612"/>
                    <a:pt x="38888" y="17612"/>
                  </a:cubicBezTo>
                  <a:cubicBezTo>
                    <a:pt x="38536" y="17612"/>
                    <a:pt x="38254" y="17997"/>
                    <a:pt x="38449" y="18360"/>
                  </a:cubicBezTo>
                  <a:cubicBezTo>
                    <a:pt x="39611" y="20855"/>
                    <a:pt x="38723" y="23965"/>
                    <a:pt x="36809" y="25810"/>
                  </a:cubicBezTo>
                  <a:cubicBezTo>
                    <a:pt x="35817" y="26767"/>
                    <a:pt x="34553" y="27348"/>
                    <a:pt x="33186" y="27451"/>
                  </a:cubicBezTo>
                  <a:cubicBezTo>
                    <a:pt x="33122" y="27452"/>
                    <a:pt x="33059" y="27453"/>
                    <a:pt x="32995" y="27453"/>
                  </a:cubicBezTo>
                  <a:cubicBezTo>
                    <a:pt x="31661" y="27453"/>
                    <a:pt x="30363" y="27110"/>
                    <a:pt x="29221" y="26425"/>
                  </a:cubicBezTo>
                  <a:cubicBezTo>
                    <a:pt x="27854" y="25639"/>
                    <a:pt x="26829" y="24375"/>
                    <a:pt x="26385" y="22871"/>
                  </a:cubicBezTo>
                  <a:cubicBezTo>
                    <a:pt x="26309" y="22643"/>
                    <a:pt x="26118" y="22537"/>
                    <a:pt x="25927" y="22537"/>
                  </a:cubicBezTo>
                  <a:cubicBezTo>
                    <a:pt x="25688" y="22537"/>
                    <a:pt x="25447" y="22704"/>
                    <a:pt x="25428" y="23008"/>
                  </a:cubicBezTo>
                  <a:cubicBezTo>
                    <a:pt x="25291" y="25981"/>
                    <a:pt x="22762" y="28510"/>
                    <a:pt x="19891" y="29159"/>
                  </a:cubicBezTo>
                  <a:cubicBezTo>
                    <a:pt x="19434" y="29268"/>
                    <a:pt x="18969" y="29322"/>
                    <a:pt x="18506" y="29322"/>
                  </a:cubicBezTo>
                  <a:cubicBezTo>
                    <a:pt x="17518" y="29322"/>
                    <a:pt x="16538" y="29078"/>
                    <a:pt x="15653" y="28613"/>
                  </a:cubicBezTo>
                  <a:cubicBezTo>
                    <a:pt x="14355" y="27895"/>
                    <a:pt x="13261" y="26835"/>
                    <a:pt x="12577" y="25503"/>
                  </a:cubicBezTo>
                  <a:cubicBezTo>
                    <a:pt x="11723" y="24067"/>
                    <a:pt x="11450" y="22358"/>
                    <a:pt x="11723" y="20718"/>
                  </a:cubicBezTo>
                  <a:cubicBezTo>
                    <a:pt x="11812" y="20392"/>
                    <a:pt x="11566" y="20117"/>
                    <a:pt x="11277" y="20117"/>
                  </a:cubicBezTo>
                  <a:cubicBezTo>
                    <a:pt x="11232" y="20117"/>
                    <a:pt x="11187" y="20123"/>
                    <a:pt x="11142" y="20137"/>
                  </a:cubicBezTo>
                  <a:cubicBezTo>
                    <a:pt x="10114" y="20289"/>
                    <a:pt x="9054" y="20410"/>
                    <a:pt x="7997" y="20410"/>
                  </a:cubicBezTo>
                  <a:cubicBezTo>
                    <a:pt x="7157" y="20410"/>
                    <a:pt x="6320" y="20334"/>
                    <a:pt x="5503" y="20137"/>
                  </a:cubicBezTo>
                  <a:cubicBezTo>
                    <a:pt x="4033" y="19795"/>
                    <a:pt x="2735" y="18941"/>
                    <a:pt x="1812" y="17744"/>
                  </a:cubicBezTo>
                  <a:cubicBezTo>
                    <a:pt x="1026" y="16548"/>
                    <a:pt x="821" y="15045"/>
                    <a:pt x="1231" y="13677"/>
                  </a:cubicBezTo>
                  <a:cubicBezTo>
                    <a:pt x="1641" y="12242"/>
                    <a:pt x="2632" y="11046"/>
                    <a:pt x="3931" y="10362"/>
                  </a:cubicBezTo>
                  <a:cubicBezTo>
                    <a:pt x="4976" y="9805"/>
                    <a:pt x="6115" y="9532"/>
                    <a:pt x="7275" y="9532"/>
                  </a:cubicBezTo>
                  <a:cubicBezTo>
                    <a:pt x="7822" y="9532"/>
                    <a:pt x="8373" y="9592"/>
                    <a:pt x="8921" y="9713"/>
                  </a:cubicBezTo>
                  <a:cubicBezTo>
                    <a:pt x="8960" y="9722"/>
                    <a:pt x="8999" y="9726"/>
                    <a:pt x="9038" y="9726"/>
                  </a:cubicBezTo>
                  <a:cubicBezTo>
                    <a:pt x="9295" y="9726"/>
                    <a:pt x="9506" y="9532"/>
                    <a:pt x="9536" y="9235"/>
                  </a:cubicBezTo>
                  <a:cubicBezTo>
                    <a:pt x="9467" y="8688"/>
                    <a:pt x="9502" y="8141"/>
                    <a:pt x="9604" y="7594"/>
                  </a:cubicBezTo>
                  <a:cubicBezTo>
                    <a:pt x="9741" y="7047"/>
                    <a:pt x="9946" y="6535"/>
                    <a:pt x="10185" y="6056"/>
                  </a:cubicBezTo>
                  <a:cubicBezTo>
                    <a:pt x="10732" y="5065"/>
                    <a:pt x="11484" y="4211"/>
                    <a:pt x="12407" y="3595"/>
                  </a:cubicBezTo>
                  <a:cubicBezTo>
                    <a:pt x="13410" y="2964"/>
                    <a:pt x="14554" y="2645"/>
                    <a:pt x="15698" y="2645"/>
                  </a:cubicBezTo>
                  <a:cubicBezTo>
                    <a:pt x="16658" y="2645"/>
                    <a:pt x="17617" y="2870"/>
                    <a:pt x="18490" y="3322"/>
                  </a:cubicBezTo>
                  <a:cubicBezTo>
                    <a:pt x="19618" y="3835"/>
                    <a:pt x="20575" y="4621"/>
                    <a:pt x="21292" y="5646"/>
                  </a:cubicBezTo>
                  <a:cubicBezTo>
                    <a:pt x="21375" y="5760"/>
                    <a:pt x="21487" y="5808"/>
                    <a:pt x="21596" y="5808"/>
                  </a:cubicBezTo>
                  <a:cubicBezTo>
                    <a:pt x="21597" y="5808"/>
                    <a:pt x="21599" y="5808"/>
                    <a:pt x="21600" y="5808"/>
                  </a:cubicBezTo>
                  <a:lnTo>
                    <a:pt x="21600" y="5808"/>
                  </a:lnTo>
                  <a:cubicBezTo>
                    <a:pt x="21634" y="5845"/>
                    <a:pt x="21668" y="5882"/>
                    <a:pt x="21703" y="5919"/>
                  </a:cubicBezTo>
                  <a:cubicBezTo>
                    <a:pt x="21771" y="5988"/>
                    <a:pt x="21865" y="6022"/>
                    <a:pt x="21955" y="6022"/>
                  </a:cubicBezTo>
                  <a:cubicBezTo>
                    <a:pt x="22044" y="6022"/>
                    <a:pt x="22130" y="5988"/>
                    <a:pt x="22181" y="5919"/>
                  </a:cubicBezTo>
                  <a:cubicBezTo>
                    <a:pt x="23856" y="3800"/>
                    <a:pt x="25906" y="1442"/>
                    <a:pt x="28743" y="964"/>
                  </a:cubicBezTo>
                  <a:cubicBezTo>
                    <a:pt x="29046" y="913"/>
                    <a:pt x="29348" y="888"/>
                    <a:pt x="29647" y="888"/>
                  </a:cubicBezTo>
                  <a:close/>
                  <a:moveTo>
                    <a:pt x="29673" y="0"/>
                  </a:moveTo>
                  <a:cubicBezTo>
                    <a:pt x="29568" y="0"/>
                    <a:pt x="29463" y="2"/>
                    <a:pt x="29358" y="7"/>
                  </a:cubicBezTo>
                  <a:cubicBezTo>
                    <a:pt x="27854" y="178"/>
                    <a:pt x="26419" y="759"/>
                    <a:pt x="25223" y="1716"/>
                  </a:cubicBezTo>
                  <a:cubicBezTo>
                    <a:pt x="23969" y="2750"/>
                    <a:pt x="22860" y="3899"/>
                    <a:pt x="21920" y="5162"/>
                  </a:cubicBezTo>
                  <a:lnTo>
                    <a:pt x="21920" y="5162"/>
                  </a:lnTo>
                  <a:cubicBezTo>
                    <a:pt x="21885" y="5125"/>
                    <a:pt x="21849" y="5088"/>
                    <a:pt x="21814" y="5051"/>
                  </a:cubicBezTo>
                  <a:lnTo>
                    <a:pt x="21814" y="5051"/>
                  </a:lnTo>
                  <a:cubicBezTo>
                    <a:pt x="21210" y="4053"/>
                    <a:pt x="20398" y="3212"/>
                    <a:pt x="19379" y="2638"/>
                  </a:cubicBezTo>
                  <a:cubicBezTo>
                    <a:pt x="18285" y="2023"/>
                    <a:pt x="17055" y="1682"/>
                    <a:pt x="15824" y="1682"/>
                  </a:cubicBezTo>
                  <a:cubicBezTo>
                    <a:pt x="13261" y="1682"/>
                    <a:pt x="10903" y="3014"/>
                    <a:pt x="9638" y="5202"/>
                  </a:cubicBezTo>
                  <a:cubicBezTo>
                    <a:pt x="8987" y="6267"/>
                    <a:pt x="8618" y="7461"/>
                    <a:pt x="8553" y="8671"/>
                  </a:cubicBezTo>
                  <a:lnTo>
                    <a:pt x="8553" y="8671"/>
                  </a:lnTo>
                  <a:cubicBezTo>
                    <a:pt x="8130" y="8605"/>
                    <a:pt x="7705" y="8572"/>
                    <a:pt x="7281" y="8572"/>
                  </a:cubicBezTo>
                  <a:cubicBezTo>
                    <a:pt x="6151" y="8572"/>
                    <a:pt x="5032" y="8807"/>
                    <a:pt x="3999" y="9269"/>
                  </a:cubicBezTo>
                  <a:cubicBezTo>
                    <a:pt x="2461" y="9952"/>
                    <a:pt x="1231" y="11251"/>
                    <a:pt x="616" y="12857"/>
                  </a:cubicBezTo>
                  <a:cubicBezTo>
                    <a:pt x="0" y="14361"/>
                    <a:pt x="35" y="16104"/>
                    <a:pt x="718" y="17574"/>
                  </a:cubicBezTo>
                  <a:cubicBezTo>
                    <a:pt x="1538" y="19112"/>
                    <a:pt x="2940" y="20239"/>
                    <a:pt x="4580" y="20786"/>
                  </a:cubicBezTo>
                  <a:cubicBezTo>
                    <a:pt x="5708" y="21192"/>
                    <a:pt x="6882" y="21333"/>
                    <a:pt x="8069" y="21333"/>
                  </a:cubicBezTo>
                  <a:cubicBezTo>
                    <a:pt x="8945" y="21333"/>
                    <a:pt x="9828" y="21256"/>
                    <a:pt x="10704" y="21151"/>
                  </a:cubicBezTo>
                  <a:lnTo>
                    <a:pt x="10704" y="21151"/>
                  </a:lnTo>
                  <a:cubicBezTo>
                    <a:pt x="10425" y="24283"/>
                    <a:pt x="12058" y="27475"/>
                    <a:pt x="14696" y="29159"/>
                  </a:cubicBezTo>
                  <a:cubicBezTo>
                    <a:pt x="15877" y="29901"/>
                    <a:pt x="17212" y="30289"/>
                    <a:pt x="18578" y="30289"/>
                  </a:cubicBezTo>
                  <a:cubicBezTo>
                    <a:pt x="18912" y="30289"/>
                    <a:pt x="19248" y="30266"/>
                    <a:pt x="19584" y="30219"/>
                  </a:cubicBezTo>
                  <a:cubicBezTo>
                    <a:pt x="21258" y="29980"/>
                    <a:pt x="22796" y="29194"/>
                    <a:pt x="24027" y="28032"/>
                  </a:cubicBezTo>
                  <a:cubicBezTo>
                    <a:pt x="25023" y="27108"/>
                    <a:pt x="25742" y="25926"/>
                    <a:pt x="26112" y="24632"/>
                  </a:cubicBezTo>
                  <a:lnTo>
                    <a:pt x="26112" y="24632"/>
                  </a:lnTo>
                  <a:cubicBezTo>
                    <a:pt x="27438" y="26895"/>
                    <a:pt x="30009" y="28391"/>
                    <a:pt x="32673" y="28476"/>
                  </a:cubicBezTo>
                  <a:cubicBezTo>
                    <a:pt x="32721" y="28477"/>
                    <a:pt x="32768" y="28477"/>
                    <a:pt x="32815" y="28477"/>
                  </a:cubicBezTo>
                  <a:cubicBezTo>
                    <a:pt x="34372" y="28477"/>
                    <a:pt x="35889" y="27934"/>
                    <a:pt x="37116" y="26972"/>
                  </a:cubicBezTo>
                  <a:cubicBezTo>
                    <a:pt x="38347" y="25947"/>
                    <a:pt x="39235" y="24614"/>
                    <a:pt x="39679" y="23076"/>
                  </a:cubicBezTo>
                  <a:cubicBezTo>
                    <a:pt x="40085" y="21697"/>
                    <a:pt x="40084" y="20254"/>
                    <a:pt x="39694" y="18898"/>
                  </a:cubicBezTo>
                  <a:lnTo>
                    <a:pt x="39694" y="18898"/>
                  </a:lnTo>
                  <a:cubicBezTo>
                    <a:pt x="40484" y="19129"/>
                    <a:pt x="41300" y="19242"/>
                    <a:pt x="42115" y="19242"/>
                  </a:cubicBezTo>
                  <a:cubicBezTo>
                    <a:pt x="43118" y="19242"/>
                    <a:pt x="44121" y="19071"/>
                    <a:pt x="45079" y="18736"/>
                  </a:cubicBezTo>
                  <a:cubicBezTo>
                    <a:pt x="49283" y="17334"/>
                    <a:pt x="51060" y="12379"/>
                    <a:pt x="48702" y="8619"/>
                  </a:cubicBezTo>
                  <a:cubicBezTo>
                    <a:pt x="47622" y="6904"/>
                    <a:pt x="45744" y="5867"/>
                    <a:pt x="43728" y="5867"/>
                  </a:cubicBezTo>
                  <a:cubicBezTo>
                    <a:pt x="43575" y="5867"/>
                    <a:pt x="43422" y="5873"/>
                    <a:pt x="43268" y="5885"/>
                  </a:cubicBezTo>
                  <a:cubicBezTo>
                    <a:pt x="41935" y="5988"/>
                    <a:pt x="40636" y="6398"/>
                    <a:pt x="39440" y="7047"/>
                  </a:cubicBezTo>
                  <a:cubicBezTo>
                    <a:pt x="38612" y="7497"/>
                    <a:pt x="37833" y="8012"/>
                    <a:pt x="37115" y="8604"/>
                  </a:cubicBezTo>
                  <a:lnTo>
                    <a:pt x="37115" y="8604"/>
                  </a:lnTo>
                  <a:cubicBezTo>
                    <a:pt x="37217" y="5791"/>
                    <a:pt x="36127" y="2961"/>
                    <a:pt x="33733" y="1306"/>
                  </a:cubicBezTo>
                  <a:cubicBezTo>
                    <a:pt x="32553" y="444"/>
                    <a:pt x="31135" y="0"/>
                    <a:pt x="29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Text Box 3"/>
          <p:cNvSpPr txBox="1"/>
          <p:nvPr/>
        </p:nvSpPr>
        <p:spPr>
          <a:xfrm>
            <a:off x="8512175" y="4688205"/>
            <a:ext cx="449580" cy="306705"/>
          </a:xfrm>
          <a:prstGeom prst="rect">
            <a:avLst/>
          </a:prstGeom>
          <a:noFill/>
        </p:spPr>
        <p:txBody>
          <a:bodyPr wrap="square" rtlCol="0">
            <a:spAutoFit/>
          </a:bodyPr>
          <a:p>
            <a:pPr algn="ctr"/>
            <a:r>
              <a:rPr lang="en-US"/>
              <a:t>16</a:t>
            </a:r>
            <a:endParaRPr lang="en-US"/>
          </a:p>
        </p:txBody>
      </p:sp>
    </p:spTree>
  </p:cSld>
  <p:clrMapOvr>
    <a:masterClrMapping/>
  </p:clrMapOvr>
</p:sld>
</file>

<file path=ppt/theme/theme1.xml><?xml version="1.0" encoding="utf-8"?>
<a:theme xmlns:a="http://schemas.openxmlformats.org/drawingml/2006/main" name="Hand-drawn Timeline Infographics by Slidesgo">
  <a:themeElements>
    <a:clrScheme name="Simple Light">
      <a:dk1>
        <a:srgbClr val="000000"/>
      </a:dk1>
      <a:lt1>
        <a:srgbClr val="FFFFFF"/>
      </a:lt1>
      <a:dk2>
        <a:srgbClr val="F94144"/>
      </a:dk2>
      <a:lt2>
        <a:srgbClr val="F3722C"/>
      </a:lt2>
      <a:accent1>
        <a:srgbClr val="F8961E"/>
      </a:accent1>
      <a:accent2>
        <a:srgbClr val="F9C74F"/>
      </a:accent2>
      <a:accent3>
        <a:srgbClr val="90BE6D"/>
      </a:accent3>
      <a:accent4>
        <a:srgbClr val="43AA8B"/>
      </a:accent4>
      <a:accent5>
        <a:srgbClr val="577590"/>
      </a:accent5>
      <a:accent6>
        <a:srgbClr val="344E66"/>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6095</Words>
  <Application>WPS Presentation</Application>
  <PresentationFormat>On-screen Show (16:9)</PresentationFormat>
  <Paragraphs>191</Paragraphs>
  <Slides>18</Slides>
  <Notes>39</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18</vt:i4>
      </vt:variant>
    </vt:vector>
  </HeadingPairs>
  <TitlesOfParts>
    <vt:vector size="38" baseType="lpstr">
      <vt:lpstr>Arial</vt:lpstr>
      <vt:lpstr>SimSun</vt:lpstr>
      <vt:lpstr>Wingdings</vt:lpstr>
      <vt:lpstr>Arial</vt:lpstr>
      <vt:lpstr>Fira Sans Extra Condensed Medium</vt:lpstr>
      <vt:lpstr>Roboto</vt:lpstr>
      <vt:lpstr>Fira Sans Extra Condensed SemiBold</vt:lpstr>
      <vt:lpstr>Fira Sans SemiBold</vt:lpstr>
      <vt:lpstr>Yu Gothic UI</vt:lpstr>
      <vt:lpstr>Poppins Black</vt:lpstr>
      <vt:lpstr>Poppins</vt:lpstr>
      <vt:lpstr>Fira Sans Extra Condensed SemiBold</vt:lpstr>
      <vt:lpstr>Calibri</vt:lpstr>
      <vt:lpstr>Courier New</vt:lpstr>
      <vt:lpstr>Wingdings</vt:lpstr>
      <vt:lpstr>Fira Sans Extra Condensed Medium</vt:lpstr>
      <vt:lpstr>Microsoft YaHei</vt:lpstr>
      <vt:lpstr>Arial Unicode MS</vt:lpstr>
      <vt:lpstr>Cambria</vt:lpstr>
      <vt:lpstr>Hand-drawn Timeline Infographics by Slidesgo</vt:lpstr>
      <vt:lpstr>Pipeline</vt:lpstr>
      <vt:lpstr>Contents</vt:lpstr>
      <vt:lpstr>Abstract</vt:lpstr>
      <vt:lpstr>The idea of pipelining is to divide the single-cycle instruction cycles into 5 separate stages, Then add a register between each stage so that different stages can happen in parallel, Each instruction is in different stage of completion. Instruction pipelining is like the use of an assembly line in a manufacturing plant.  An assembly line takes advantage of the fact that a product goes through various stages of production.</vt:lpstr>
      <vt:lpstr>PowerPoint 演示文稿</vt:lpstr>
      <vt:lpstr>Single-Cycle &amp; piprline</vt:lpstr>
      <vt:lpstr>To gain further speedup, the pipeline must have more stages. Let us consider the following decomposition of the instruction processing:  1. Fetch Instruction (FI)          Read the next instruction from memory and place it into a temporary buffer.  2. Decode Instruction (DI)          Identify the instruction type (opcode) and figure out which operands it needs.  3. Calculate Operands (CO)          Compute the actual memory address of each operand, depending on the addressing mode used.  4. Fetch Operands (FO)          Retrieve the required operands from memory (register operands don’t need this step).  5. Execute Instruction (EI)          Carry out the operation and write the result to the destination location. 6. Write operand (WO)          Store the result in memory.</vt:lpstr>
      <vt:lpstr>Timing Diagram for Instruction Pipeline Operation.</vt:lpstr>
      <vt:lpstr>Pipeline difficulties</vt:lpstr>
      <vt:lpstr>PowerPoint 演示文稿</vt:lpstr>
      <vt:lpstr>PowerPoint 演示文稿</vt:lpstr>
      <vt:lpstr>Pipeline  Hazards</vt:lpstr>
      <vt:lpstr>Pipeline  Hazards</vt:lpstr>
      <vt:lpstr>PowerPoint 演示文稿</vt:lpstr>
      <vt:lpstr>PowerPoint 演示文稿</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ABA</dc:creator>
  <cp:lastModifiedBy>Ali H.Dhaher</cp:lastModifiedBy>
  <cp:revision>9</cp:revision>
  <dcterms:created xsi:type="dcterms:W3CDTF">2025-11-30T16:52:00Z</dcterms:created>
  <dcterms:modified xsi:type="dcterms:W3CDTF">2025-11-30T21:28:25Z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3642D534F5EC4FFD8F744D942AAEA522_13</vt:lpwstr>
  </property>
  <property fmtid="{D5CDD505-2E9C-101B-9397-08002B2CF9AE}" pid="3" name="KSOProductBuildVer">
    <vt:lpwstr>1033-12.2.0.23155</vt:lpwstr>
  </property>
</Properties>
</file>